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47" y="-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AD168-B2DE-4AB5-B8EA-557B326DB22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25351-8615-470F-816F-B9DB66B39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76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25351-8615-470F-816F-B9DB66B39C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9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6784848"/>
            <a:ext cx="12079224" cy="73152"/>
          </a:xfrm>
          <a:prstGeom prst="rect">
            <a:avLst/>
          </a:prstGeom>
          <a:solidFill>
            <a:srgbClr val="C9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" y="73152"/>
            <a:ext cx="6583680" cy="67116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93408" y="73152"/>
            <a:ext cx="5495544" cy="6711696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685800"/>
            <a:ext cx="3200400" cy="384048"/>
          </a:xfrm>
          <a:prstGeom prst="roundRect">
            <a:avLst/>
          </a:prstGeom>
          <a:solidFill>
            <a:srgbClr val="E4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449497"/>
                </a:solidFill>
                <a:latin typeface="Calibri"/>
              </a:rPr>
              <a:t>Final Presentation  ·  DSCI 5260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6126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dirty="0">
                <a:solidFill>
                  <a:srgbClr val="449497"/>
                </a:solidFill>
                <a:latin typeface="Calibri"/>
              </a:rPr>
              <a:t>Second</a:t>
            </a:r>
            <a:r>
              <a:rPr sz="5400" b="1" dirty="0">
                <a:solidFill>
                  <a:srgbClr val="C92800"/>
                </a:solidFill>
                <a:latin typeface="Calibri"/>
              </a:rPr>
              <a:t> Life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4754880" cy="54864"/>
          </a:xfrm>
          <a:prstGeom prst="rect">
            <a:avLst/>
          </a:prstGeom>
          <a:solidFill>
            <a:srgbClr val="C9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796967"/>
            <a:ext cx="6126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DM Sans"/>
              </a:rPr>
              <a:t>AI-Powered Clinical Trial Matching Platform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7512BF7-B76B-969F-F137-E02B2480AC83}"/>
              </a:ext>
            </a:extLst>
          </p:cNvPr>
          <p:cNvGrpSpPr/>
          <p:nvPr/>
        </p:nvGrpSpPr>
        <p:grpSpPr>
          <a:xfrm>
            <a:off x="338328" y="4018788"/>
            <a:ext cx="6126480" cy="1143000"/>
            <a:chOff x="365760" y="4251960"/>
            <a:chExt cx="6126480" cy="1143000"/>
          </a:xfrm>
        </p:grpSpPr>
        <p:sp>
          <p:nvSpPr>
            <p:cNvPr id="13" name="Rounded Rectangle 12"/>
            <p:cNvSpPr/>
            <p:nvPr/>
          </p:nvSpPr>
          <p:spPr>
            <a:xfrm>
              <a:off x="365760" y="4251960"/>
              <a:ext cx="6126480" cy="1143000"/>
            </a:xfrm>
            <a:prstGeom prst="roundRect">
              <a:avLst/>
            </a:prstGeom>
            <a:solidFill>
              <a:srgbClr val="E4F3F4"/>
            </a:solidFill>
            <a:ln w="19050">
              <a:solidFill>
                <a:srgbClr val="4494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6928" y="4325112"/>
              <a:ext cx="58064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 dirty="0">
                  <a:solidFill>
                    <a:srgbClr val="449497"/>
                  </a:solidFill>
                  <a:latin typeface="Calibri"/>
                </a:rPr>
                <a:t>Research Question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66928" y="4636008"/>
              <a:ext cx="5806440" cy="6675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0" i="0" dirty="0">
                  <a:solidFill>
                    <a:srgbClr val="0D1B2A"/>
                  </a:solidFill>
                  <a:latin typeface="Calibri"/>
                </a:rPr>
                <a:t>Can ML predict patient eligibility for clinical trials and connect them with the right hospital — at scale?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365760" y="5727654"/>
            <a:ext cx="6126480" cy="36576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6071391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556B7D"/>
                </a:solidFill>
                <a:latin typeface="Calibri"/>
              </a:rPr>
              <a:t>Business Analytics Capstone  ·  Group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80467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B7D"/>
                </a:solidFill>
                <a:latin typeface="Calibri"/>
              </a:rPr>
              <a:t>Presented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078992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Calibri"/>
              </a:rPr>
              <a:t>Group 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1572768"/>
            <a:ext cx="5074920" cy="36576"/>
          </a:xfrm>
          <a:prstGeom prst="rect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03720" y="1773936"/>
            <a:ext cx="164592" cy="164592"/>
          </a:xfrm>
          <a:prstGeom prst="ellipse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59752" y="1682496"/>
            <a:ext cx="4818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0D1B2A"/>
                </a:solidFill>
                <a:latin typeface="Calibri"/>
              </a:rPr>
              <a:t>Manoj </a:t>
            </a:r>
            <a:r>
              <a:rPr sz="1600" b="0" i="0" dirty="0" err="1">
                <a:solidFill>
                  <a:srgbClr val="0D1B2A"/>
                </a:solidFill>
                <a:latin typeface="Calibri"/>
              </a:rPr>
              <a:t>Guttikonda</a:t>
            </a:r>
            <a:endParaRPr sz="1600" b="0" i="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903720" y="2176272"/>
            <a:ext cx="164592" cy="164592"/>
          </a:xfrm>
          <a:prstGeom prst="ellipse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59752" y="2084832"/>
            <a:ext cx="4818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0D1B2A"/>
                </a:solidFill>
                <a:latin typeface="Calibri"/>
              </a:rPr>
              <a:t>Krishna Sri Sai</a:t>
            </a:r>
          </a:p>
        </p:txBody>
      </p:sp>
      <p:sp>
        <p:nvSpPr>
          <p:cNvPr id="25" name="Oval 24"/>
          <p:cNvSpPr/>
          <p:nvPr/>
        </p:nvSpPr>
        <p:spPr>
          <a:xfrm>
            <a:off x="6903720" y="2578608"/>
            <a:ext cx="164592" cy="164592"/>
          </a:xfrm>
          <a:prstGeom prst="ellipse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59752" y="2487168"/>
            <a:ext cx="4818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2A"/>
                </a:solidFill>
                <a:latin typeface="Calibri"/>
              </a:rPr>
              <a:t>Soumika Kandari</a:t>
            </a:r>
          </a:p>
        </p:txBody>
      </p:sp>
      <p:sp>
        <p:nvSpPr>
          <p:cNvPr id="27" name="Oval 26"/>
          <p:cNvSpPr/>
          <p:nvPr/>
        </p:nvSpPr>
        <p:spPr>
          <a:xfrm>
            <a:off x="6903720" y="2980944"/>
            <a:ext cx="164592" cy="164592"/>
          </a:xfrm>
          <a:prstGeom prst="ellipse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59752" y="2889504"/>
            <a:ext cx="4818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2A"/>
                </a:solidFill>
                <a:latin typeface="Calibri"/>
              </a:rPr>
              <a:t>Rohith Tummalapalli</a:t>
            </a:r>
          </a:p>
        </p:txBody>
      </p:sp>
      <p:sp>
        <p:nvSpPr>
          <p:cNvPr id="29" name="Oval 28"/>
          <p:cNvSpPr/>
          <p:nvPr/>
        </p:nvSpPr>
        <p:spPr>
          <a:xfrm>
            <a:off x="6903720" y="3383280"/>
            <a:ext cx="164592" cy="164592"/>
          </a:xfrm>
          <a:prstGeom prst="ellipse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59752" y="3291840"/>
            <a:ext cx="4818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2A"/>
                </a:solidFill>
                <a:latin typeface="Calibri"/>
              </a:rPr>
              <a:t>Nikhitha Chada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3720" y="3931920"/>
            <a:ext cx="2377440" cy="1170432"/>
          </a:xfrm>
          <a:prstGeom prst="roundRect">
            <a:avLst/>
          </a:prstGeom>
          <a:solidFill>
            <a:srgbClr val="E4F3F4"/>
          </a:solidFill>
          <a:ln w="19050">
            <a:solidFill>
              <a:srgbClr val="44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4023359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449497"/>
                </a:solidFill>
                <a:latin typeface="Calibri"/>
              </a:rPr>
              <a:t>571K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79208" y="4681728"/>
            <a:ext cx="1426464" cy="36576"/>
          </a:xfrm>
          <a:prstGeom prst="rect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03720" y="4754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6B7D"/>
                </a:solidFill>
                <a:latin typeface="Calibri"/>
              </a:rPr>
              <a:t>Clinical Trials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3931920"/>
            <a:ext cx="2377440" cy="1170432"/>
          </a:xfrm>
          <a:prstGeom prst="roundRect">
            <a:avLst/>
          </a:prstGeom>
          <a:solidFill>
            <a:srgbClr val="FEF5E4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20" y="4023359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A623"/>
                </a:solidFill>
                <a:latin typeface="Calibri"/>
              </a:rPr>
              <a:t>265K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3808" y="4681728"/>
            <a:ext cx="1426464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18320" y="4754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6B7D"/>
                </a:solidFill>
                <a:latin typeface="Calibri"/>
              </a:rPr>
              <a:t>Synthetic Patients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03720" y="5230368"/>
            <a:ext cx="2377440" cy="1170432"/>
          </a:xfrm>
          <a:prstGeom prst="roundRect">
            <a:avLst/>
          </a:prstGeom>
          <a:solidFill>
            <a:srgbClr val="E6F6ED"/>
          </a:solidFill>
          <a:ln w="19050">
            <a:solidFill>
              <a:srgbClr val="2EA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03720" y="5321807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A05C"/>
                </a:solidFill>
                <a:latin typeface="Calibri"/>
              </a:rPr>
              <a:t>85%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79208" y="5980176"/>
            <a:ext cx="1426464" cy="36576"/>
          </a:xfrm>
          <a:prstGeom prst="rect">
            <a:avLst/>
          </a:prstGeom>
          <a:solidFill>
            <a:srgbClr val="2EA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03720" y="60533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6B7D"/>
                </a:solidFill>
                <a:latin typeface="Calibri"/>
              </a:rPr>
              <a:t>Model Accuracy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8320" y="5230368"/>
            <a:ext cx="2377440" cy="1170432"/>
          </a:xfrm>
          <a:prstGeom prst="roundRect">
            <a:avLst/>
          </a:prstGeom>
          <a:solidFill>
            <a:srgbClr val="FDEEE9"/>
          </a:solidFill>
          <a:ln w="19050">
            <a:solidFill>
              <a:srgbClr val="C9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18320" y="5321807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92800"/>
                </a:solidFill>
                <a:latin typeface="Calibri"/>
              </a:rPr>
              <a:t>99%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93808" y="5980176"/>
            <a:ext cx="1426464" cy="36576"/>
          </a:xfrm>
          <a:prstGeom prst="rect">
            <a:avLst/>
          </a:prstGeom>
          <a:solidFill>
            <a:srgbClr val="C9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18320" y="60533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6B7D"/>
                </a:solidFill>
                <a:latin typeface="Calibri"/>
              </a:rPr>
              <a:t>Recall Score</a:t>
            </a:r>
          </a:p>
        </p:txBody>
      </p:sp>
      <p:sp>
        <p:nvSpPr>
          <p:cNvPr id="50" name="Freeform 3">
            <a:extLst>
              <a:ext uri="{FF2B5EF4-FFF2-40B4-BE49-F238E27FC236}">
                <a16:creationId xmlns:a16="http://schemas.microsoft.com/office/drawing/2014/main" id="{E815D8BA-F5FF-FE85-56CA-3BB1D7D59510}"/>
              </a:ext>
            </a:extLst>
          </p:cNvPr>
          <p:cNvSpPr/>
          <p:nvPr/>
        </p:nvSpPr>
        <p:spPr>
          <a:xfrm>
            <a:off x="3891613" y="1288530"/>
            <a:ext cx="623338" cy="586763"/>
          </a:xfrm>
          <a:custGeom>
            <a:avLst/>
            <a:gdLst/>
            <a:ahLst/>
            <a:cxnLst/>
            <a:rect l="l" t="t" r="r" b="b"/>
            <a:pathLst>
              <a:path w="513610" h="513610">
                <a:moveTo>
                  <a:pt x="0" y="0"/>
                </a:moveTo>
                <a:lnTo>
                  <a:pt x="513610" y="0"/>
                </a:lnTo>
                <a:lnTo>
                  <a:pt x="513610" y="513611"/>
                </a:lnTo>
                <a:lnTo>
                  <a:pt x="0" y="513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2EF6FE-BF89-D295-DAC6-71FA9C64D0F4}"/>
              </a:ext>
            </a:extLst>
          </p:cNvPr>
          <p:cNvSpPr txBox="1"/>
          <p:nvPr/>
        </p:nvSpPr>
        <p:spPr>
          <a:xfrm>
            <a:off x="425196" y="3201725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 dirty="0">
                <a:solidFill>
                  <a:srgbClr val="556B7D"/>
                </a:solidFill>
                <a:latin typeface="Calibri"/>
              </a:rPr>
              <a:t>Bridging Patients ↔ Clinical Trials with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20040" y="356445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449497"/>
                </a:solidFill>
                <a:latin typeface="Calibri"/>
              </a:rPr>
              <a:t>Second</a:t>
            </a:r>
            <a:r>
              <a:rPr sz="1600" b="1" dirty="0">
                <a:solidFill>
                  <a:srgbClr val="C92800"/>
                </a:solidFill>
                <a:latin typeface="Calibri"/>
              </a:rPr>
              <a:t> Life</a:t>
            </a:r>
          </a:p>
        </p:txBody>
      </p:sp>
      <p:sp>
        <p:nvSpPr>
          <p:cNvPr id="5" name="Rectangle 4"/>
          <p:cNvSpPr/>
          <p:nvPr/>
        </p:nvSpPr>
        <p:spPr>
          <a:xfrm>
            <a:off x="2331720" y="201168"/>
            <a:ext cx="27432" cy="594360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87168" y="298935"/>
            <a:ext cx="8686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D1B2A"/>
                </a:solidFill>
              </a:rPr>
              <a:t>Introduction &amp; Business Understanding </a:t>
            </a:r>
            <a:endParaRPr sz="2200" b="1" i="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521440" y="228600"/>
            <a:ext cx="502920" cy="502920"/>
          </a:xfrm>
          <a:prstGeom prst="ellipse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71732" y="297287"/>
            <a:ext cx="402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4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B7D"/>
                </a:solidFill>
                <a:latin typeface="Calibri"/>
              </a:rPr>
              <a:t>DSCI 5260  ·  Business Analytics Capstone  ·  Group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6751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9497"/>
                </a:solidFill>
                <a:latin typeface="Calibri"/>
              </a:rPr>
              <a:t>Second Life  ·  huggingface.co/spaces/MrNoOne07/second-life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143000"/>
            <a:ext cx="11457432" cy="841248"/>
          </a:xfrm>
          <a:prstGeom prst="roundRect">
            <a:avLst/>
          </a:prstGeom>
          <a:solidFill>
            <a:srgbClr val="FDEEE9"/>
          </a:solidFill>
          <a:ln w="19050">
            <a:solidFill>
              <a:srgbClr val="C9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444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2800"/>
                </a:solidFill>
                <a:latin typeface="Calibri"/>
              </a:rPr>
              <a:t>⚠  Business Problem:  </a:t>
            </a:r>
            <a:r>
              <a:rPr sz="1400" b="0">
                <a:solidFill>
                  <a:srgbClr val="0D1B2A"/>
                </a:solidFill>
                <a:latin typeface="Calibri"/>
              </a:rPr>
              <a:t>80% of clinical trials fail to meet enrollment targets on time — delaying treatments, costing millions, and leaving eligible patients unmatched.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21408"/>
            <a:ext cx="3657600" cy="4041648"/>
          </a:xfrm>
          <a:prstGeom prst="roundRect">
            <a:avLst/>
          </a:prstGeom>
          <a:solidFill>
            <a:srgbClr val="E4F3F4"/>
          </a:solidFill>
          <a:ln w="19050">
            <a:solidFill>
              <a:srgbClr val="44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22297" y="2226894"/>
            <a:ext cx="12506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449497"/>
                </a:solidFill>
                <a:latin typeface="Calibri"/>
              </a:rPr>
              <a:t>🎯  Objective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2587752"/>
            <a:ext cx="3383280" cy="36576"/>
          </a:xfrm>
          <a:prstGeom prst="rect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178808" y="2121408"/>
            <a:ext cx="3657600" cy="4041648"/>
          </a:xfrm>
          <a:prstGeom prst="roundRect">
            <a:avLst/>
          </a:prstGeom>
          <a:solidFill>
            <a:srgbClr val="FEF5E4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00319" y="2214970"/>
            <a:ext cx="16145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9A6A00"/>
                </a:solidFill>
                <a:latin typeface="Calibri"/>
              </a:rPr>
              <a:t>📋  Business Goals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587752"/>
            <a:ext cx="33832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982712" y="2121408"/>
            <a:ext cx="3657600" cy="4041648"/>
          </a:xfrm>
          <a:prstGeom prst="roundRect">
            <a:avLst/>
          </a:prstGeom>
          <a:solidFill>
            <a:srgbClr val="E6F6ED"/>
          </a:solidFill>
          <a:ln w="19050">
            <a:solidFill>
              <a:srgbClr val="2EA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56461" y="2212670"/>
            <a:ext cx="175582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EA05C"/>
                </a:solidFill>
                <a:latin typeface="Calibri"/>
              </a:rPr>
              <a:t>✅  Success Criteria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47304" y="2587752"/>
            <a:ext cx="3383280" cy="36576"/>
          </a:xfrm>
          <a:prstGeom prst="rect">
            <a:avLst/>
          </a:prstGeom>
          <a:solidFill>
            <a:srgbClr val="2EA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2706624"/>
            <a:ext cx="3246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D1B2A"/>
                </a:solidFill>
                <a:latin typeface="Calibri"/>
              </a:rPr>
              <a:t>Build a dual-portal platform to match patients to clinical trials using Machine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118104"/>
            <a:ext cx="3246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556B7D"/>
                </a:solidFill>
                <a:latin typeface="Calibri"/>
              </a:rPr>
              <a:t>Patients self-report conditions and get AI-ranked trial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849624"/>
            <a:ext cx="3246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D1B2A"/>
                </a:solidFill>
                <a:latin typeface="Calibri"/>
              </a:rPr>
              <a:t>Enable hospitals to discover eligible, opt-in patients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261104"/>
            <a:ext cx="3246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556B7D"/>
                </a:solidFill>
                <a:latin typeface="Calibri"/>
              </a:rPr>
              <a:t>Privacy-first — patients control their own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992624"/>
            <a:ext cx="3246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D1B2A"/>
                </a:solidFill>
                <a:latin typeface="Calibri"/>
              </a:rPr>
              <a:t>Deploy publicly with zero installation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185223"/>
            <a:ext cx="3246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556B7D"/>
                </a:solidFill>
                <a:latin typeface="Calibri"/>
              </a:rPr>
              <a:t>Live on Hugging Face Spaces via Docker</a:t>
            </a:r>
          </a:p>
        </p:txBody>
      </p:sp>
      <p:sp>
        <p:nvSpPr>
          <p:cNvPr id="31" name="Oval 30"/>
          <p:cNvSpPr/>
          <p:nvPr/>
        </p:nvSpPr>
        <p:spPr>
          <a:xfrm>
            <a:off x="4383657" y="2924586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28187" y="2821644"/>
            <a:ext cx="3035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D1B2A"/>
                </a:solidFill>
                <a:latin typeface="Calibri"/>
              </a:rPr>
              <a:t>Reduce patient trial discovery time</a:t>
            </a:r>
            <a:r>
              <a:rPr lang="en-US" sz="1200" b="0" i="0" dirty="0">
                <a:solidFill>
                  <a:srgbClr val="0D1B2A"/>
                </a:solidFill>
                <a:latin typeface="Calibri"/>
              </a:rPr>
              <a:t> </a:t>
            </a:r>
            <a:r>
              <a:rPr sz="1200" b="0" i="0" dirty="0">
                <a:solidFill>
                  <a:srgbClr val="0D1B2A"/>
                </a:solidFill>
                <a:latin typeface="Calibri"/>
              </a:rPr>
              <a:t>from hours → seconds</a:t>
            </a:r>
          </a:p>
        </p:txBody>
      </p:sp>
      <p:sp>
        <p:nvSpPr>
          <p:cNvPr id="33" name="Oval 32"/>
          <p:cNvSpPr/>
          <p:nvPr/>
        </p:nvSpPr>
        <p:spPr>
          <a:xfrm>
            <a:off x="4379344" y="3657888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22436" y="3515131"/>
            <a:ext cx="3035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D1B2A"/>
                </a:solidFill>
                <a:latin typeface="Calibri"/>
              </a:rPr>
              <a:t>Match patients to trials with</a:t>
            </a:r>
            <a:r>
              <a:rPr lang="en-US" sz="1200" b="0" i="0" dirty="0">
                <a:solidFill>
                  <a:srgbClr val="0D1B2A"/>
                </a:solidFill>
                <a:latin typeface="Calibri"/>
              </a:rPr>
              <a:t> </a:t>
            </a:r>
            <a:r>
              <a:rPr sz="1200" b="0" i="0" dirty="0">
                <a:solidFill>
                  <a:srgbClr val="0D1B2A"/>
                </a:solidFill>
                <a:latin typeface="Calibri"/>
              </a:rPr>
              <a:t>&gt; 80% classification accuracy</a:t>
            </a:r>
          </a:p>
        </p:txBody>
      </p:sp>
      <p:sp>
        <p:nvSpPr>
          <p:cNvPr id="35" name="Oval 34"/>
          <p:cNvSpPr/>
          <p:nvPr/>
        </p:nvSpPr>
        <p:spPr>
          <a:xfrm>
            <a:off x="4379344" y="4409640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28187" y="4245462"/>
            <a:ext cx="3035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D1B2A"/>
                </a:solidFill>
                <a:latin typeface="Calibri"/>
              </a:rPr>
              <a:t>Provide hospitals a ranked list of</a:t>
            </a:r>
            <a:r>
              <a:rPr lang="en-US" sz="1200" b="0" i="0" dirty="0">
                <a:solidFill>
                  <a:srgbClr val="0D1B2A"/>
                </a:solidFill>
                <a:latin typeface="Calibri"/>
              </a:rPr>
              <a:t> </a:t>
            </a:r>
            <a:r>
              <a:rPr sz="1200" b="0" i="0" dirty="0">
                <a:solidFill>
                  <a:srgbClr val="0D1B2A"/>
                </a:solidFill>
                <a:latin typeface="Calibri"/>
              </a:rPr>
              <a:t>eligible, consenting patients</a:t>
            </a:r>
          </a:p>
        </p:txBody>
      </p:sp>
      <p:sp>
        <p:nvSpPr>
          <p:cNvPr id="37" name="Oval 36"/>
          <p:cNvSpPr/>
          <p:nvPr/>
        </p:nvSpPr>
        <p:spPr>
          <a:xfrm>
            <a:off x="4383657" y="5170932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28187" y="5025516"/>
            <a:ext cx="3035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D1B2A"/>
                </a:solidFill>
                <a:latin typeface="Calibri"/>
              </a:rPr>
              <a:t>Support bidirectional communication</a:t>
            </a:r>
            <a:r>
              <a:rPr lang="en-US" sz="1200" b="0" i="0" dirty="0">
                <a:solidFill>
                  <a:srgbClr val="0D1B2A"/>
                </a:solidFill>
                <a:latin typeface="Calibri"/>
              </a:rPr>
              <a:t> </a:t>
            </a:r>
            <a:r>
              <a:rPr sz="1200" b="0" i="0" dirty="0">
                <a:solidFill>
                  <a:srgbClr val="0D1B2A"/>
                </a:solidFill>
                <a:latin typeface="Calibri"/>
              </a:rPr>
              <a:t>via </a:t>
            </a:r>
            <a:endParaRPr lang="en-US" sz="1200" b="0" i="0" dirty="0">
              <a:solidFill>
                <a:srgbClr val="0D1B2A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0D1B2A"/>
                </a:solidFill>
                <a:latin typeface="Calibri"/>
              </a:rPr>
              <a:t>in-platform messaging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3A63F0F-DC9C-A0FF-B79D-99FA958463CE}"/>
              </a:ext>
            </a:extLst>
          </p:cNvPr>
          <p:cNvGrpSpPr/>
          <p:nvPr/>
        </p:nvGrpSpPr>
        <p:grpSpPr>
          <a:xfrm>
            <a:off x="8138160" y="2689371"/>
            <a:ext cx="3383280" cy="722376"/>
            <a:chOff x="8138160" y="2706624"/>
            <a:chExt cx="3310128" cy="804672"/>
          </a:xfrm>
        </p:grpSpPr>
        <p:sp>
          <p:nvSpPr>
            <p:cNvPr id="39" name="Rounded Rectangle 38"/>
            <p:cNvSpPr/>
            <p:nvPr/>
          </p:nvSpPr>
          <p:spPr>
            <a:xfrm>
              <a:off x="8138160" y="2706624"/>
              <a:ext cx="3310128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0DC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302752" y="2761488"/>
              <a:ext cx="3063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50" b="1" i="0">
                  <a:solidFill>
                    <a:srgbClr val="0D1B2A"/>
                  </a:solidFill>
                  <a:latin typeface="Calibri"/>
                </a:rPr>
                <a:t>Model Accuracy &gt; 80%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302752" y="3118104"/>
              <a:ext cx="3063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2EA05C"/>
                  </a:solidFill>
                  <a:latin typeface="Calibri"/>
                </a:rPr>
                <a:t>Achieved: 85.15%  ✓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CA0E6BA-5069-9AD8-3680-51D9CA860372}"/>
              </a:ext>
            </a:extLst>
          </p:cNvPr>
          <p:cNvGrpSpPr/>
          <p:nvPr/>
        </p:nvGrpSpPr>
        <p:grpSpPr>
          <a:xfrm>
            <a:off x="8174736" y="3530223"/>
            <a:ext cx="3346704" cy="722377"/>
            <a:chOff x="8138160" y="3694176"/>
            <a:chExt cx="3310128" cy="804672"/>
          </a:xfrm>
        </p:grpSpPr>
        <p:sp>
          <p:nvSpPr>
            <p:cNvPr id="42" name="Rounded Rectangle 41"/>
            <p:cNvSpPr/>
            <p:nvPr/>
          </p:nvSpPr>
          <p:spPr>
            <a:xfrm>
              <a:off x="8138160" y="3694176"/>
              <a:ext cx="3310128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0DC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302752" y="3749039"/>
              <a:ext cx="3063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50" b="1" i="0">
                  <a:solidFill>
                    <a:srgbClr val="0D1B2A"/>
                  </a:solidFill>
                  <a:latin typeface="Calibri"/>
                </a:rPr>
                <a:t>Recall &gt; 90%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302752" y="4105656"/>
              <a:ext cx="3063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2EA05C"/>
                  </a:solidFill>
                  <a:latin typeface="Calibri"/>
                </a:rPr>
                <a:t>Achieved: 99.25%  ✓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3C880CA-49B2-3C3B-34B5-110C67E59CEE}"/>
              </a:ext>
            </a:extLst>
          </p:cNvPr>
          <p:cNvGrpSpPr/>
          <p:nvPr/>
        </p:nvGrpSpPr>
        <p:grpSpPr>
          <a:xfrm>
            <a:off x="8193024" y="5250726"/>
            <a:ext cx="3310128" cy="720678"/>
            <a:chOff x="8138160" y="4681728"/>
            <a:chExt cx="3310128" cy="804672"/>
          </a:xfrm>
        </p:grpSpPr>
        <p:sp>
          <p:nvSpPr>
            <p:cNvPr id="45" name="Rounded Rectangle 44"/>
            <p:cNvSpPr/>
            <p:nvPr/>
          </p:nvSpPr>
          <p:spPr>
            <a:xfrm>
              <a:off x="8138160" y="4681728"/>
              <a:ext cx="3310128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0DC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302752" y="4736592"/>
              <a:ext cx="3063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50" b="1" i="0" dirty="0">
                  <a:solidFill>
                    <a:srgbClr val="0D1B2A"/>
                  </a:solidFill>
                  <a:latin typeface="Calibri"/>
                </a:rPr>
                <a:t>Public Deployment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02752" y="5093208"/>
              <a:ext cx="3063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2EA05C"/>
                  </a:solidFill>
                  <a:latin typeface="Calibri"/>
                </a:rPr>
                <a:t>Live: Hugging Face  ✓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9F1D047-A4F5-3C80-1C38-EFDFC37A56EA}"/>
              </a:ext>
            </a:extLst>
          </p:cNvPr>
          <p:cNvGrpSpPr/>
          <p:nvPr/>
        </p:nvGrpSpPr>
        <p:grpSpPr>
          <a:xfrm>
            <a:off x="8174736" y="4384404"/>
            <a:ext cx="3355848" cy="720678"/>
            <a:chOff x="8138160" y="5669280"/>
            <a:chExt cx="3310128" cy="804672"/>
          </a:xfrm>
        </p:grpSpPr>
        <p:sp>
          <p:nvSpPr>
            <p:cNvPr id="48" name="Rounded Rectangle 47"/>
            <p:cNvSpPr/>
            <p:nvPr/>
          </p:nvSpPr>
          <p:spPr>
            <a:xfrm>
              <a:off x="8138160" y="5669280"/>
              <a:ext cx="3310128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0DC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302752" y="5724144"/>
              <a:ext cx="3063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50" b="1" i="0" dirty="0">
                  <a:solidFill>
                    <a:srgbClr val="0D1B2A"/>
                  </a:solidFill>
                  <a:latin typeface="Calibri"/>
                </a:rPr>
                <a:t>Real-World Validation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302752" y="6080760"/>
              <a:ext cx="3063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 dirty="0">
                  <a:solidFill>
                    <a:srgbClr val="2EA05C"/>
                  </a:solidFill>
                  <a:latin typeface="Calibri"/>
                </a:rPr>
                <a:t>MIMIC-IV test: 90%  ✓</a:t>
              </a:r>
            </a:p>
          </p:txBody>
        </p:sp>
      </p:grpSp>
      <p:sp>
        <p:nvSpPr>
          <p:cNvPr id="51" name="Freeform 3">
            <a:extLst>
              <a:ext uri="{FF2B5EF4-FFF2-40B4-BE49-F238E27FC236}">
                <a16:creationId xmlns:a16="http://schemas.microsoft.com/office/drawing/2014/main" id="{C7FE22EE-2C84-329F-76D7-F0627218A2CA}"/>
              </a:ext>
            </a:extLst>
          </p:cNvPr>
          <p:cNvSpPr/>
          <p:nvPr/>
        </p:nvSpPr>
        <p:spPr>
          <a:xfrm>
            <a:off x="1408035" y="383160"/>
            <a:ext cx="295567" cy="291255"/>
          </a:xfrm>
          <a:custGeom>
            <a:avLst/>
            <a:gdLst/>
            <a:ahLst/>
            <a:cxnLst/>
            <a:rect l="l" t="t" r="r" b="b"/>
            <a:pathLst>
              <a:path w="513610" h="513610">
                <a:moveTo>
                  <a:pt x="0" y="0"/>
                </a:moveTo>
                <a:lnTo>
                  <a:pt x="513610" y="0"/>
                </a:lnTo>
                <a:lnTo>
                  <a:pt x="513610" y="513611"/>
                </a:lnTo>
                <a:lnTo>
                  <a:pt x="0" y="513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31720" y="201168"/>
            <a:ext cx="27432" cy="594360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21440" y="228600"/>
            <a:ext cx="502920" cy="502920"/>
          </a:xfrm>
          <a:prstGeom prst="ellipse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1440" y="3101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4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B7D"/>
                </a:solidFill>
                <a:latin typeface="Calibri"/>
              </a:rPr>
              <a:t>DSCI 5260  ·  Business Analytics Capstone  ·  Group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6751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9497"/>
                </a:solidFill>
                <a:latin typeface="Calibri"/>
              </a:rPr>
              <a:t>Second Life  ·  huggingface.co/spaces/MrNoOne07/second-life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1704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B7D"/>
                </a:solidFill>
                <a:latin typeface="Calibri"/>
              </a:rPr>
              <a:t>What already exists — and why Second Life is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451077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1B2A"/>
                </a:solidFill>
                <a:latin typeface="Calibri"/>
              </a:rPr>
              <a:t>Existing Approaches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38403"/>
            <a:ext cx="5486400" cy="36576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5760" y="2029968"/>
            <a:ext cx="5486400" cy="987552"/>
          </a:xfrm>
          <a:prstGeom prst="roundRect">
            <a:avLst/>
          </a:prstGeom>
          <a:solidFill>
            <a:srgbClr val="E4F3F4"/>
          </a:solidFill>
          <a:ln w="12700">
            <a:solidFill>
              <a:srgbClr val="44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12140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49497"/>
                </a:solidFill>
                <a:latin typeface="Calibri"/>
              </a:rPr>
              <a:t>🔍  ClinicalTrials.gov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532888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56B7D"/>
                </a:solidFill>
                <a:latin typeface="Calibri"/>
              </a:rPr>
              <a:t>Keyword search only — no eligibility ranking, no hospital pathway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127248"/>
            <a:ext cx="5486400" cy="987552"/>
          </a:xfrm>
          <a:prstGeom prst="roundRect">
            <a:avLst/>
          </a:prstGeom>
          <a:solidFill>
            <a:srgbClr val="FEF5E4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21868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🤖  IBM Watson for Trial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630168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56B7D"/>
                </a:solidFill>
                <a:latin typeface="Calibri"/>
              </a:rPr>
              <a:t>Powerful NLP but requires full hospital EHR integration — not patient-facing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224528"/>
            <a:ext cx="5486400" cy="987552"/>
          </a:xfrm>
          <a:prstGeom prst="roundRect">
            <a:avLst/>
          </a:prstGeom>
          <a:solidFill>
            <a:srgbClr val="FDEEE9"/>
          </a:solidFill>
          <a:ln w="12700">
            <a:solidFill>
              <a:srgbClr val="C9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31596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2800"/>
                </a:solidFill>
                <a:latin typeface="Calibri"/>
              </a:rPr>
              <a:t>💊  Antidote / TrialSpark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727448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Calibri"/>
              </a:rPr>
              <a:t>Rule-based hard filters — binary yes/no, misses borderline patients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321808"/>
            <a:ext cx="5486400" cy="987552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2EA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541324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A05C"/>
                </a:solidFill>
                <a:latin typeface="Calibri"/>
              </a:rPr>
              <a:t>📄  Academic BERT-based NLP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824728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Calibri"/>
              </a:rPr>
              <a:t>High precision but needs structured EHR data and heavy infrastructure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600200"/>
            <a:ext cx="27432" cy="4754880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75457" y="1440445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1B2A"/>
                </a:solidFill>
                <a:latin typeface="Calibri"/>
              </a:rPr>
              <a:t>Research Gaps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1832652"/>
            <a:ext cx="5486400" cy="36576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355080" y="2084832"/>
            <a:ext cx="292608" cy="292608"/>
          </a:xfrm>
          <a:prstGeom prst="ellipse">
            <a:avLst/>
          </a:prstGeom>
          <a:solidFill>
            <a:srgbClr val="FDEEE9"/>
          </a:solidFill>
          <a:ln w="19050">
            <a:solidFill>
              <a:srgbClr val="C9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208483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2800"/>
                </a:solidFill>
                <a:latin typeface="Calibri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2066544"/>
            <a:ext cx="5010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Calibri"/>
              </a:rPr>
              <a:t>No accessible patient-facing eligibility scoring tool</a:t>
            </a:r>
          </a:p>
        </p:txBody>
      </p:sp>
      <p:sp>
        <p:nvSpPr>
          <p:cNvPr id="35" name="Oval 34"/>
          <p:cNvSpPr/>
          <p:nvPr/>
        </p:nvSpPr>
        <p:spPr>
          <a:xfrm>
            <a:off x="6355080" y="2743200"/>
            <a:ext cx="292608" cy="292608"/>
          </a:xfrm>
          <a:prstGeom prst="ellipse">
            <a:avLst/>
          </a:prstGeom>
          <a:solidFill>
            <a:srgbClr val="FDEEE9"/>
          </a:solidFill>
          <a:ln w="19050">
            <a:solidFill>
              <a:srgbClr val="C9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27432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2800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2724912"/>
            <a:ext cx="5010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Calibri"/>
              </a:rPr>
              <a:t>No bidirectional matching — patients AND hospitals</a:t>
            </a:r>
          </a:p>
        </p:txBody>
      </p:sp>
      <p:sp>
        <p:nvSpPr>
          <p:cNvPr id="38" name="Oval 37"/>
          <p:cNvSpPr/>
          <p:nvPr/>
        </p:nvSpPr>
        <p:spPr>
          <a:xfrm>
            <a:off x="6355080" y="3401568"/>
            <a:ext cx="292608" cy="292608"/>
          </a:xfrm>
          <a:prstGeom prst="ellipse">
            <a:avLst/>
          </a:prstGeom>
          <a:solidFill>
            <a:srgbClr val="FDEEE9"/>
          </a:solidFill>
          <a:ln w="19050">
            <a:solidFill>
              <a:srgbClr val="C9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340156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2800"/>
                </a:solidFill>
                <a:latin typeface="Calibri"/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8272" y="3383280"/>
            <a:ext cx="5010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Calibri"/>
              </a:rPr>
              <a:t>No privacy-first, patient-controlled opt-in model</a:t>
            </a:r>
          </a:p>
        </p:txBody>
      </p:sp>
      <p:sp>
        <p:nvSpPr>
          <p:cNvPr id="41" name="Oval 40"/>
          <p:cNvSpPr/>
          <p:nvPr/>
        </p:nvSpPr>
        <p:spPr>
          <a:xfrm>
            <a:off x="6355080" y="4059936"/>
            <a:ext cx="292608" cy="292608"/>
          </a:xfrm>
          <a:prstGeom prst="ellipse">
            <a:avLst/>
          </a:prstGeom>
          <a:solidFill>
            <a:srgbClr val="FDEEE9"/>
          </a:solidFill>
          <a:ln w="19050">
            <a:solidFill>
              <a:srgbClr val="C9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55080" y="405993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2800"/>
                </a:solidFill>
                <a:latin typeface="Calibri"/>
              </a:rPr>
              <a:t>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4041648"/>
            <a:ext cx="5010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Calibri"/>
              </a:rPr>
              <a:t>No combined ML + rule-based probabilistic ranking</a:t>
            </a:r>
          </a:p>
        </p:txBody>
      </p:sp>
      <p:sp>
        <p:nvSpPr>
          <p:cNvPr id="44" name="Oval 43"/>
          <p:cNvSpPr/>
          <p:nvPr/>
        </p:nvSpPr>
        <p:spPr>
          <a:xfrm>
            <a:off x="6355080" y="4718303"/>
            <a:ext cx="292608" cy="292608"/>
          </a:xfrm>
          <a:prstGeom prst="ellipse">
            <a:avLst/>
          </a:prstGeom>
          <a:solidFill>
            <a:srgbClr val="FDEEE9"/>
          </a:solidFill>
          <a:ln w="19050">
            <a:solidFill>
              <a:srgbClr val="C9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55080" y="4718303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2800"/>
                </a:solidFill>
                <a:latin typeface="Calibri"/>
              </a:rPr>
              <a:t>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8272" y="4700016"/>
            <a:ext cx="5010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Calibri"/>
              </a:rPr>
              <a:t>No zero-install public deployment for real-world testing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8092BC3-90D4-41AA-C847-9A42554645E5}"/>
              </a:ext>
            </a:extLst>
          </p:cNvPr>
          <p:cNvGrpSpPr/>
          <p:nvPr/>
        </p:nvGrpSpPr>
        <p:grpSpPr>
          <a:xfrm>
            <a:off x="6375457" y="5312205"/>
            <a:ext cx="5486400" cy="1024128"/>
            <a:chOff x="6355080" y="5349240"/>
            <a:chExt cx="5486400" cy="1024128"/>
          </a:xfrm>
        </p:grpSpPr>
        <p:sp>
          <p:nvSpPr>
            <p:cNvPr id="47" name="Rounded Rectangle 46"/>
            <p:cNvSpPr/>
            <p:nvPr/>
          </p:nvSpPr>
          <p:spPr>
            <a:xfrm>
              <a:off x="6355080" y="5349240"/>
              <a:ext cx="5486400" cy="1024128"/>
            </a:xfrm>
            <a:prstGeom prst="roundRect">
              <a:avLst/>
            </a:prstGeom>
            <a:solidFill>
              <a:srgbClr val="E4F3F4"/>
            </a:solidFill>
            <a:ln w="19050">
              <a:solidFill>
                <a:srgbClr val="4494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537960" y="5422392"/>
              <a:ext cx="52120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449497"/>
                  </a:solidFill>
                  <a:latin typeface="Calibri"/>
                </a:rPr>
                <a:t>Where Second Life Fits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537960" y="5760720"/>
              <a:ext cx="5212080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0D1B2A"/>
                  </a:solidFill>
                  <a:latin typeface="Calibri"/>
                </a:rPr>
                <a:t>Accessible  ·  Probabilistic ML scoring  ·  Bidirectional
Patient consent-first  ·  Public Docker deployment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90B589E3-1050-951E-315F-AE5AA0388B72}"/>
              </a:ext>
            </a:extLst>
          </p:cNvPr>
          <p:cNvSpPr txBox="1"/>
          <p:nvPr/>
        </p:nvSpPr>
        <p:spPr>
          <a:xfrm>
            <a:off x="320040" y="356445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449497"/>
                </a:solidFill>
                <a:latin typeface="Calibri"/>
              </a:rPr>
              <a:t>Second</a:t>
            </a:r>
            <a:r>
              <a:rPr sz="1600" b="1" dirty="0">
                <a:solidFill>
                  <a:srgbClr val="C92800"/>
                </a:solidFill>
                <a:latin typeface="Calibri"/>
              </a:rPr>
              <a:t> Life</a:t>
            </a:r>
          </a:p>
        </p:txBody>
      </p:sp>
      <p:sp>
        <p:nvSpPr>
          <p:cNvPr id="51" name="Freeform 3">
            <a:extLst>
              <a:ext uri="{FF2B5EF4-FFF2-40B4-BE49-F238E27FC236}">
                <a16:creationId xmlns:a16="http://schemas.microsoft.com/office/drawing/2014/main" id="{CD32D702-78FE-E2F1-0816-210EE0ECB73A}"/>
              </a:ext>
            </a:extLst>
          </p:cNvPr>
          <p:cNvSpPr/>
          <p:nvPr/>
        </p:nvSpPr>
        <p:spPr>
          <a:xfrm>
            <a:off x="1408035" y="383160"/>
            <a:ext cx="295567" cy="291255"/>
          </a:xfrm>
          <a:custGeom>
            <a:avLst/>
            <a:gdLst/>
            <a:ahLst/>
            <a:cxnLst/>
            <a:rect l="l" t="t" r="r" b="b"/>
            <a:pathLst>
              <a:path w="513610" h="513610">
                <a:moveTo>
                  <a:pt x="0" y="0"/>
                </a:moveTo>
                <a:lnTo>
                  <a:pt x="513610" y="0"/>
                </a:lnTo>
                <a:lnTo>
                  <a:pt x="513610" y="513611"/>
                </a:lnTo>
                <a:lnTo>
                  <a:pt x="0" y="513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944AB1-F2B6-2FF3-FB08-EB02DB0BC5D1}"/>
              </a:ext>
            </a:extLst>
          </p:cNvPr>
          <p:cNvSpPr txBox="1"/>
          <p:nvPr/>
        </p:nvSpPr>
        <p:spPr>
          <a:xfrm>
            <a:off x="2487168" y="298935"/>
            <a:ext cx="8686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D1B2A"/>
                </a:solidFill>
              </a:rPr>
              <a:t>Literature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31720" y="201168"/>
            <a:ext cx="27432" cy="594360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21440" y="228600"/>
            <a:ext cx="502920" cy="502920"/>
          </a:xfrm>
          <a:prstGeom prst="ellipse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1440" y="30945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4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B7D"/>
                </a:solidFill>
                <a:latin typeface="Calibri"/>
              </a:rPr>
              <a:t>DSCI 5260  ·  Business Analytics Capstone  ·  Group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6751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9497"/>
                </a:solidFill>
                <a:latin typeface="Calibri"/>
              </a:rPr>
              <a:t>Second Life  ·  huggingface.co/spaces/MrNoOne07/second-life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AF18A29-5CED-5E64-9414-4BE1F869E815}"/>
              </a:ext>
            </a:extLst>
          </p:cNvPr>
          <p:cNvGrpSpPr/>
          <p:nvPr/>
        </p:nvGrpSpPr>
        <p:grpSpPr>
          <a:xfrm>
            <a:off x="365760" y="1143000"/>
            <a:ext cx="1499616" cy="273090"/>
            <a:chOff x="365760" y="1143000"/>
            <a:chExt cx="1527048" cy="310896"/>
          </a:xfrm>
        </p:grpSpPr>
        <p:sp>
          <p:nvSpPr>
            <p:cNvPr id="14" name="Rounded Rectangle 13"/>
            <p:cNvSpPr/>
            <p:nvPr/>
          </p:nvSpPr>
          <p:spPr>
            <a:xfrm>
              <a:off x="365760" y="1143000"/>
              <a:ext cx="1527048" cy="310896"/>
            </a:xfrm>
            <a:prstGeom prst="roundRect">
              <a:avLst/>
            </a:prstGeom>
            <a:solidFill>
              <a:srgbClr val="E4F3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75488" y="1153387"/>
              <a:ext cx="1389888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 dirty="0">
                  <a:solidFill>
                    <a:srgbClr val="449497"/>
                  </a:solidFill>
                  <a:latin typeface="Calibri"/>
                </a:rPr>
                <a:t>DATA SOURCES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DE55769-7302-C8D8-BE5B-2AD21F62CF47}"/>
              </a:ext>
            </a:extLst>
          </p:cNvPr>
          <p:cNvGrpSpPr/>
          <p:nvPr/>
        </p:nvGrpSpPr>
        <p:grpSpPr>
          <a:xfrm>
            <a:off x="365760" y="1508760"/>
            <a:ext cx="3593592" cy="1865375"/>
            <a:chOff x="365760" y="1508760"/>
            <a:chExt cx="3703320" cy="2176272"/>
          </a:xfrm>
        </p:grpSpPr>
        <p:sp>
          <p:nvSpPr>
            <p:cNvPr id="16" name="Rounded Rectangle 15"/>
            <p:cNvSpPr/>
            <p:nvPr/>
          </p:nvSpPr>
          <p:spPr>
            <a:xfrm>
              <a:off x="365760" y="1508760"/>
              <a:ext cx="3703320" cy="2176272"/>
            </a:xfrm>
            <a:prstGeom prst="roundRect">
              <a:avLst/>
            </a:prstGeom>
            <a:solidFill>
              <a:srgbClr val="E4F3F4"/>
            </a:solidFill>
            <a:ln w="19050">
              <a:solidFill>
                <a:srgbClr val="4494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95BFE9B-1A3E-82A7-B735-394591433F09}"/>
                </a:ext>
              </a:extLst>
            </p:cNvPr>
            <p:cNvGrpSpPr/>
            <p:nvPr/>
          </p:nvGrpSpPr>
          <p:grpSpPr>
            <a:xfrm>
              <a:off x="457200" y="1600200"/>
              <a:ext cx="3511296" cy="1856062"/>
              <a:chOff x="457200" y="1600200"/>
              <a:chExt cx="3511296" cy="1856062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649856" y="1600200"/>
                <a:ext cx="3144903" cy="347472"/>
              </a:xfrm>
              <a:prstGeom prst="roundRect">
                <a:avLst/>
              </a:prstGeom>
              <a:solidFill>
                <a:srgbClr val="44949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57200" y="1634706"/>
                <a:ext cx="350215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400" b="1" i="0" dirty="0">
                    <a:solidFill>
                      <a:srgbClr val="FFFFFF"/>
                    </a:solidFill>
                    <a:latin typeface="Calibri"/>
                  </a:rPr>
                  <a:t>Public — Free Download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530352" y="2029968"/>
                <a:ext cx="33375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1" i="0" dirty="0">
                    <a:solidFill>
                      <a:srgbClr val="449497"/>
                    </a:solidFill>
                    <a:latin typeface="Calibri"/>
                  </a:rPr>
                  <a:t>ClinicalTrials.gov</a:t>
                </a:r>
                <a:r>
                  <a:rPr lang="en-US" sz="1400" b="1" i="0" dirty="0">
                    <a:solidFill>
                      <a:srgbClr val="449497"/>
                    </a:solidFill>
                    <a:latin typeface="Calibri"/>
                  </a:rPr>
                  <a:t> </a:t>
                </a:r>
                <a:r>
                  <a:rPr sz="1400" b="1" i="0" dirty="0">
                    <a:solidFill>
                      <a:srgbClr val="449497"/>
                    </a:solidFill>
                    <a:latin typeface="Calibri"/>
                  </a:rPr>
                  <a:t>(via AACT)</a:t>
                </a: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585216" y="2536816"/>
                <a:ext cx="164592" cy="164592"/>
              </a:xfrm>
              <a:prstGeom prst="ellipse">
                <a:avLst/>
              </a:prstGeom>
              <a:solidFill>
                <a:srgbClr val="44949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832104" y="2466309"/>
                <a:ext cx="312724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0" dirty="0">
                    <a:solidFill>
                      <a:srgbClr val="0D1B2A"/>
                    </a:solidFill>
                    <a:latin typeface="Calibri"/>
                  </a:rPr>
                  <a:t>571K total trials</a:t>
                </a:r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585216" y="2909624"/>
                <a:ext cx="164592" cy="164592"/>
              </a:xfrm>
              <a:prstGeom prst="ellipse">
                <a:avLst/>
              </a:prstGeom>
              <a:solidFill>
                <a:srgbClr val="44949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841248" y="2837343"/>
                <a:ext cx="312724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0" dirty="0">
                    <a:solidFill>
                      <a:srgbClr val="0D1B2A"/>
                    </a:solidFill>
                    <a:latin typeface="Calibri"/>
                  </a:rPr>
                  <a:t>65K recruiting</a:t>
                </a:r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585216" y="3264408"/>
                <a:ext cx="164592" cy="164592"/>
              </a:xfrm>
              <a:prstGeom prst="ellipse">
                <a:avLst/>
              </a:prstGeom>
              <a:solidFill>
                <a:srgbClr val="44949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832104" y="3179263"/>
                <a:ext cx="312724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0" dirty="0">
                    <a:solidFill>
                      <a:srgbClr val="0D1B2A"/>
                    </a:solidFill>
                    <a:latin typeface="Calibri"/>
                  </a:rPr>
                  <a:t>8 structured CSV tables</a:t>
                </a: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B34BEFE-D948-1F6B-F1F9-65CE77BE0D25}"/>
              </a:ext>
            </a:extLst>
          </p:cNvPr>
          <p:cNvGrpSpPr/>
          <p:nvPr/>
        </p:nvGrpSpPr>
        <p:grpSpPr>
          <a:xfrm>
            <a:off x="4297679" y="1493468"/>
            <a:ext cx="3593465" cy="1857436"/>
            <a:chOff x="4297680" y="1508760"/>
            <a:chExt cx="3703320" cy="2176272"/>
          </a:xfrm>
        </p:grpSpPr>
        <p:sp>
          <p:nvSpPr>
            <p:cNvPr id="26" name="Rounded Rectangle 25"/>
            <p:cNvSpPr/>
            <p:nvPr/>
          </p:nvSpPr>
          <p:spPr>
            <a:xfrm>
              <a:off x="4297680" y="1508760"/>
              <a:ext cx="3703320" cy="2176272"/>
            </a:xfrm>
            <a:prstGeom prst="roundRect">
              <a:avLst/>
            </a:prstGeom>
            <a:solidFill>
              <a:srgbClr val="FEF5E4"/>
            </a:solidFill>
            <a:ln w="19050">
              <a:solidFill>
                <a:srgbClr val="F5A62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626864" y="1600200"/>
              <a:ext cx="3096653" cy="347472"/>
            </a:xfrm>
            <a:prstGeom prst="roundRect">
              <a:avLst/>
            </a:prstGeom>
            <a:solidFill>
              <a:srgbClr val="F5A6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389120" y="1600200"/>
              <a:ext cx="35021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 dirty="0">
                  <a:solidFill>
                    <a:srgbClr val="FFFFFF"/>
                  </a:solidFill>
                  <a:latin typeface="Calibri"/>
                </a:rPr>
                <a:t>Open Source — Synthetic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544568" y="2029968"/>
              <a:ext cx="226058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F5A623"/>
                  </a:solidFill>
                  <a:latin typeface="Calibri"/>
                </a:rPr>
                <a:t>Synthea</a:t>
              </a:r>
              <a:r>
                <a:rPr lang="en-US" sz="1400" b="1" i="0" dirty="0">
                  <a:solidFill>
                    <a:srgbClr val="F5A623"/>
                  </a:solidFill>
                  <a:latin typeface="Calibri"/>
                </a:rPr>
                <a:t> </a:t>
              </a:r>
              <a:r>
                <a:rPr sz="1400" b="1" i="0" dirty="0">
                  <a:solidFill>
                    <a:srgbClr val="F5A623"/>
                  </a:solidFill>
                  <a:latin typeface="Calibri"/>
                </a:rPr>
                <a:t>Synthetic Patients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4548249" y="2532990"/>
              <a:ext cx="164592" cy="164592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04281" y="2459736"/>
              <a:ext cx="122529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0D1B2A"/>
                  </a:solidFill>
                  <a:latin typeface="Calibri"/>
                </a:rPr>
                <a:t>265K patients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4548249" y="2892897"/>
              <a:ext cx="164592" cy="164592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800543" y="2804912"/>
              <a:ext cx="18435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0D1B2A"/>
                  </a:solidFill>
                  <a:latin typeface="Calibri"/>
                </a:rPr>
                <a:t>106 matched conditions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4560134" y="3264408"/>
              <a:ext cx="164592" cy="164592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800543" y="3190765"/>
              <a:ext cx="312724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0D1B2A"/>
                  </a:solidFill>
                  <a:latin typeface="Calibri"/>
                </a:rPr>
                <a:t>4 CSV files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85D1FA1-5E7E-9CD8-4DFB-0DD254B25EA5}"/>
              </a:ext>
            </a:extLst>
          </p:cNvPr>
          <p:cNvGrpSpPr/>
          <p:nvPr/>
        </p:nvGrpSpPr>
        <p:grpSpPr>
          <a:xfrm>
            <a:off x="8164013" y="1498414"/>
            <a:ext cx="3593465" cy="1838393"/>
            <a:chOff x="8229600" y="1508760"/>
            <a:chExt cx="3703320" cy="2176272"/>
          </a:xfrm>
        </p:grpSpPr>
        <p:sp>
          <p:nvSpPr>
            <p:cNvPr id="36" name="Rounded Rectangle 35"/>
            <p:cNvSpPr/>
            <p:nvPr/>
          </p:nvSpPr>
          <p:spPr>
            <a:xfrm>
              <a:off x="8229600" y="1508760"/>
              <a:ext cx="3703320" cy="2176272"/>
            </a:xfrm>
            <a:prstGeom prst="roundRect">
              <a:avLst/>
            </a:prstGeom>
            <a:solidFill>
              <a:srgbClr val="FDEEE9"/>
            </a:solidFill>
            <a:ln w="19050">
              <a:solidFill>
                <a:srgbClr val="C92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8505644" y="1600200"/>
              <a:ext cx="3152955" cy="347472"/>
            </a:xfrm>
            <a:prstGeom prst="roundRect">
              <a:avLst/>
            </a:prstGeom>
            <a:solidFill>
              <a:srgbClr val="C92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321040" y="1600200"/>
              <a:ext cx="35021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 dirty="0">
                  <a:solidFill>
                    <a:srgbClr val="FFFFFF"/>
                  </a:solidFill>
                  <a:latin typeface="Calibri"/>
                </a:rPr>
                <a:t>NDA Signed — PhysioNet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394192" y="2029968"/>
              <a:ext cx="333756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 dirty="0">
                  <a:solidFill>
                    <a:srgbClr val="C92800"/>
                  </a:solidFill>
                  <a:latin typeface="Calibri"/>
                </a:rPr>
                <a:t>MIMIC-IV</a:t>
              </a:r>
              <a:r>
                <a:rPr lang="en-US" sz="1300" b="1" i="0" dirty="0">
                  <a:solidFill>
                    <a:srgbClr val="C92800"/>
                  </a:solidFill>
                  <a:latin typeface="Calibri"/>
                </a:rPr>
                <a:t> - </a:t>
              </a:r>
              <a:r>
                <a:rPr sz="1300" b="1" i="0" dirty="0">
                  <a:solidFill>
                    <a:srgbClr val="C92800"/>
                  </a:solidFill>
                  <a:latin typeface="Calibri"/>
                </a:rPr>
                <a:t>Real Patient Data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8506953" y="2533277"/>
              <a:ext cx="164592" cy="164592"/>
            </a:xfrm>
            <a:prstGeom prst="ellipse">
              <a:avLst/>
            </a:prstGeom>
            <a:solidFill>
              <a:srgbClr val="C92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738608" y="2436466"/>
              <a:ext cx="312724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0D1B2A"/>
                  </a:solidFill>
                  <a:latin typeface="Calibri"/>
                </a:rPr>
                <a:t>100 ICU patients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8502137" y="2908790"/>
              <a:ext cx="164592" cy="164592"/>
            </a:xfrm>
            <a:prstGeom prst="ellipse">
              <a:avLst/>
            </a:prstGeom>
            <a:solidFill>
              <a:srgbClr val="C92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766389" y="2795215"/>
              <a:ext cx="312724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0D1B2A"/>
                  </a:solidFill>
                  <a:latin typeface="Calibri"/>
                </a:rPr>
                <a:t>Real ICD diagnoses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8507888" y="3268318"/>
              <a:ext cx="164592" cy="164592"/>
            </a:xfrm>
            <a:prstGeom prst="ellipse">
              <a:avLst/>
            </a:prstGeom>
            <a:solidFill>
              <a:srgbClr val="C92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766389" y="3194070"/>
              <a:ext cx="312724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0D1B2A"/>
                  </a:solidFill>
                  <a:latin typeface="Calibri"/>
                </a:rPr>
                <a:t>Validation only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47A9CBB-B8F1-BED1-D06A-50186EF761E9}"/>
              </a:ext>
            </a:extLst>
          </p:cNvPr>
          <p:cNvGrpSpPr/>
          <p:nvPr/>
        </p:nvGrpSpPr>
        <p:grpSpPr>
          <a:xfrm>
            <a:off x="320040" y="3602736"/>
            <a:ext cx="2331720" cy="310896"/>
            <a:chOff x="365760" y="3822191"/>
            <a:chExt cx="2331720" cy="310896"/>
          </a:xfrm>
        </p:grpSpPr>
        <p:sp>
          <p:nvSpPr>
            <p:cNvPr id="46" name="Rounded Rectangle 45"/>
            <p:cNvSpPr/>
            <p:nvPr/>
          </p:nvSpPr>
          <p:spPr>
            <a:xfrm>
              <a:off x="365760" y="3822191"/>
              <a:ext cx="2331720" cy="310896"/>
            </a:xfrm>
            <a:prstGeom prst="roundRect">
              <a:avLst/>
            </a:prstGeom>
            <a:solidFill>
              <a:srgbClr val="E4F3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5488" y="3858768"/>
              <a:ext cx="219456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449497"/>
                  </a:solidFill>
                  <a:latin typeface="Calibri"/>
                </a:rPr>
                <a:t>EXPLORATION INSIGHTS</a:t>
              </a:r>
            </a:p>
          </p:txBody>
        </p:sp>
      </p:grpSp>
      <p:sp>
        <p:nvSpPr>
          <p:cNvPr id="48" name="Rounded Rectangle 47"/>
          <p:cNvSpPr/>
          <p:nvPr/>
        </p:nvSpPr>
        <p:spPr>
          <a:xfrm>
            <a:off x="365760" y="4160520"/>
            <a:ext cx="5577840" cy="23957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8714" y="4374882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449497"/>
                </a:solidFill>
                <a:latin typeface="Calibri"/>
              </a:rPr>
              <a:t>▸  106 conditions  </a:t>
            </a:r>
            <a:r>
              <a:rPr sz="1200" b="0" dirty="0">
                <a:solidFill>
                  <a:srgbClr val="556B7D"/>
                </a:solidFill>
                <a:latin typeface="Calibri"/>
              </a:rPr>
              <a:t>overlap between Synthea patients and AACT trials — the core matching vocabulary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8714" y="4964560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449497"/>
                </a:solidFill>
                <a:latin typeface="Calibri"/>
              </a:rPr>
              <a:t>▸  Age &amp; gender  </a:t>
            </a:r>
            <a:r>
              <a:rPr sz="1200" b="0" dirty="0">
                <a:solidFill>
                  <a:srgbClr val="556B7D"/>
                </a:solidFill>
                <a:latin typeface="Calibri"/>
              </a:rPr>
              <a:t>are the #</a:t>
            </a:r>
            <a:r>
              <a:rPr lang="en-US" sz="1200" b="0" dirty="0">
                <a:solidFill>
                  <a:srgbClr val="556B7D"/>
                </a:solidFill>
                <a:latin typeface="Calibri"/>
              </a:rPr>
              <a:t>2</a:t>
            </a:r>
            <a:r>
              <a:rPr sz="1200" b="0" dirty="0">
                <a:solidFill>
                  <a:srgbClr val="556B7D"/>
                </a:solidFill>
                <a:latin typeface="Calibri"/>
              </a:rPr>
              <a:t> and #3 strongest predictors of trial eligibility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5415703"/>
            <a:ext cx="5513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449497"/>
                </a:solidFill>
                <a:latin typeface="Calibri"/>
              </a:rPr>
              <a:t>▸  82.1% positive  </a:t>
            </a:r>
            <a:r>
              <a:rPr sz="1200" b="0" dirty="0">
                <a:solidFill>
                  <a:srgbClr val="556B7D"/>
                </a:solidFill>
                <a:latin typeface="Calibri"/>
              </a:rPr>
              <a:t>rate in training pairs — trials sampled to have condition</a:t>
            </a:r>
            <a:r>
              <a:rPr lang="en-US" sz="1200" b="0" dirty="0">
                <a:solidFill>
                  <a:srgbClr val="556B7D"/>
                </a:solidFill>
                <a:latin typeface="Calibri"/>
              </a:rPr>
              <a:t> </a:t>
            </a:r>
            <a:r>
              <a:rPr sz="1200" b="0" dirty="0">
                <a:solidFill>
                  <a:srgbClr val="556B7D"/>
                </a:solidFill>
                <a:latin typeface="Calibri"/>
              </a:rPr>
              <a:t>overlap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5888736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449497"/>
                </a:solidFill>
                <a:latin typeface="Calibri"/>
              </a:rPr>
              <a:t>▸  8.7% of patients  </a:t>
            </a:r>
            <a:r>
              <a:rPr sz="1200" b="0" dirty="0">
                <a:solidFill>
                  <a:srgbClr val="556B7D"/>
                </a:solidFill>
                <a:latin typeface="Calibri"/>
              </a:rPr>
              <a:t>have lab/observation data — sparse external signal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FBB1BE9-21A5-E920-D344-3C2CFFBE4E2D}"/>
              </a:ext>
            </a:extLst>
          </p:cNvPr>
          <p:cNvGrpSpPr/>
          <p:nvPr/>
        </p:nvGrpSpPr>
        <p:grpSpPr>
          <a:xfrm>
            <a:off x="6489081" y="3611881"/>
            <a:ext cx="3941063" cy="310896"/>
            <a:chOff x="6080760" y="3822191"/>
            <a:chExt cx="3941063" cy="310896"/>
          </a:xfrm>
        </p:grpSpPr>
        <p:sp>
          <p:nvSpPr>
            <p:cNvPr id="53" name="Rounded Rectangle 52"/>
            <p:cNvSpPr/>
            <p:nvPr/>
          </p:nvSpPr>
          <p:spPr>
            <a:xfrm>
              <a:off x="6080760" y="3822191"/>
              <a:ext cx="3941063" cy="310896"/>
            </a:xfrm>
            <a:prstGeom prst="roundRect">
              <a:avLst/>
            </a:prstGeom>
            <a:solidFill>
              <a:srgbClr val="FDEE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190488" y="3858768"/>
              <a:ext cx="3803903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 dirty="0">
                  <a:solidFill>
                    <a:srgbClr val="C92800"/>
                  </a:solidFill>
                  <a:latin typeface="Calibri"/>
                </a:rPr>
                <a:t>DATA CHALLENGES &amp; HOW WE SOLVED THEM</a:t>
              </a:r>
            </a:p>
          </p:txBody>
        </p:sp>
      </p:grpSp>
      <p:sp>
        <p:nvSpPr>
          <p:cNvPr id="55" name="Rounded Rectangle 54"/>
          <p:cNvSpPr/>
          <p:nvPr/>
        </p:nvSpPr>
        <p:spPr>
          <a:xfrm>
            <a:off x="6080760" y="4160520"/>
            <a:ext cx="5742432" cy="23957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63640" y="4242816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dirty="0">
                <a:solidFill>
                  <a:srgbClr val="C92800"/>
                </a:solidFill>
                <a:latin typeface="Calibri"/>
              </a:rPr>
              <a:t>No ground truth labels  </a:t>
            </a:r>
            <a:r>
              <a:rPr sz="1150" b="0" dirty="0">
                <a:solidFill>
                  <a:srgbClr val="556B7D"/>
                </a:solidFill>
                <a:latin typeface="Calibri"/>
              </a:rPr>
              <a:t>→ Pseudo-labeling: 6-feature weighted score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4700016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92800"/>
                </a:solidFill>
                <a:latin typeface="Calibri"/>
              </a:rPr>
              <a:t>Mixed age formats  </a:t>
            </a:r>
            <a:r>
              <a:rPr sz="1150" b="0">
                <a:solidFill>
                  <a:srgbClr val="556B7D"/>
                </a:solidFill>
                <a:latin typeface="Calibri"/>
              </a:rPr>
              <a:t>→ Custom parser: Years / Months / Days → decimal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5157216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92800"/>
                </a:solidFill>
                <a:latin typeface="Calibri"/>
              </a:rPr>
              <a:t>Condition name mismatch  </a:t>
            </a:r>
            <a:r>
              <a:rPr sz="1150" b="0">
                <a:solidFill>
                  <a:srgbClr val="556B7D"/>
                </a:solidFill>
                <a:latin typeface="Calibri"/>
              </a:rPr>
              <a:t>→ Manual normalization to align 106 conditions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5614416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92800"/>
                </a:solidFill>
                <a:latin typeface="Calibri"/>
              </a:rPr>
              <a:t>Sparse lab data  </a:t>
            </a:r>
            <a:r>
              <a:rPr sz="1150" b="0">
                <a:solidFill>
                  <a:srgbClr val="556B7D"/>
                </a:solidFill>
                <a:latin typeface="Calibri"/>
              </a:rPr>
              <a:t>→ Normalized by expected coverage; soft feature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6071616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92800"/>
                </a:solidFill>
                <a:latin typeface="Calibri"/>
              </a:rPr>
              <a:t>Gender field whitespace  </a:t>
            </a:r>
            <a:r>
              <a:rPr sz="1150" b="0">
                <a:solidFill>
                  <a:srgbClr val="556B7D"/>
                </a:solidFill>
                <a:latin typeface="Calibri"/>
              </a:rPr>
              <a:t>→ Stripped in pipeline; gender compatibility soft-scored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F9BF05F-E1BA-122E-3259-630E0DFB095D}"/>
              </a:ext>
            </a:extLst>
          </p:cNvPr>
          <p:cNvGrpSpPr/>
          <p:nvPr/>
        </p:nvGrpSpPr>
        <p:grpSpPr>
          <a:xfrm>
            <a:off x="320040" y="356445"/>
            <a:ext cx="1828800" cy="338554"/>
            <a:chOff x="320040" y="356445"/>
            <a:chExt cx="1828800" cy="33855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06F334B-6C05-2EFF-C200-C97E87C243DC}"/>
                </a:ext>
              </a:extLst>
            </p:cNvPr>
            <p:cNvSpPr txBox="1"/>
            <p:nvPr/>
          </p:nvSpPr>
          <p:spPr>
            <a:xfrm>
              <a:off x="320040" y="356445"/>
              <a:ext cx="18288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dirty="0">
                  <a:solidFill>
                    <a:srgbClr val="449497"/>
                  </a:solidFill>
                  <a:latin typeface="Calibri"/>
                </a:rPr>
                <a:t>Second</a:t>
              </a:r>
              <a:r>
                <a:rPr sz="1600" b="1" dirty="0">
                  <a:solidFill>
                    <a:srgbClr val="C92800"/>
                  </a:solidFill>
                  <a:latin typeface="Calibri"/>
                </a:rPr>
                <a:t> Life</a:t>
              </a:r>
            </a:p>
          </p:txBody>
        </p:sp>
        <p:sp>
          <p:nvSpPr>
            <p:cNvPr id="62" name="Freeform 3">
              <a:extLst>
                <a:ext uri="{FF2B5EF4-FFF2-40B4-BE49-F238E27FC236}">
                  <a16:creationId xmlns:a16="http://schemas.microsoft.com/office/drawing/2014/main" id="{CBB843D1-60FE-3400-89C5-CB9C3389B46E}"/>
                </a:ext>
              </a:extLst>
            </p:cNvPr>
            <p:cNvSpPr/>
            <p:nvPr/>
          </p:nvSpPr>
          <p:spPr>
            <a:xfrm>
              <a:off x="1408035" y="383160"/>
              <a:ext cx="295567" cy="291255"/>
            </a:xfrm>
            <a:custGeom>
              <a:avLst/>
              <a:gdLst/>
              <a:ahLst/>
              <a:cxnLst/>
              <a:rect l="l" t="t" r="r" b="b"/>
              <a:pathLst>
                <a:path w="513610" h="513610">
                  <a:moveTo>
                    <a:pt x="0" y="0"/>
                  </a:moveTo>
                  <a:lnTo>
                    <a:pt x="513610" y="0"/>
                  </a:lnTo>
                  <a:lnTo>
                    <a:pt x="513610" y="513611"/>
                  </a:lnTo>
                  <a:lnTo>
                    <a:pt x="0" y="5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94C3EF33-261C-3946-2FC0-873F30859544}"/>
              </a:ext>
            </a:extLst>
          </p:cNvPr>
          <p:cNvSpPr txBox="1"/>
          <p:nvPr/>
        </p:nvSpPr>
        <p:spPr>
          <a:xfrm>
            <a:off x="2487168" y="298935"/>
            <a:ext cx="8686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D1B2A"/>
                </a:solidFill>
              </a:rPr>
              <a:t>Data Understanding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31720" y="201168"/>
            <a:ext cx="27432" cy="594360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21440" y="228600"/>
            <a:ext cx="502920" cy="502920"/>
          </a:xfrm>
          <a:prstGeom prst="ellipse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1440" y="3337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4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B7D"/>
                </a:solidFill>
                <a:latin typeface="Calibri"/>
              </a:rPr>
              <a:t>DSCI 5260  ·  Business Analytics Capstone  ·  Group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633" y="1162319"/>
            <a:ext cx="2633472" cy="310896"/>
          </a:xfrm>
          <a:prstGeom prst="roundRect">
            <a:avLst/>
          </a:prstGeom>
          <a:solidFill>
            <a:srgbClr val="E4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361" y="1169400"/>
            <a:ext cx="2496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49497"/>
                </a:solidFill>
                <a:latin typeface="Calibri"/>
              </a:rPr>
              <a:t>MODEL CHOICE &amp; APPROACH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2125AD4-7D20-BDD9-491A-E9D8AD25BD8D}"/>
              </a:ext>
            </a:extLst>
          </p:cNvPr>
          <p:cNvGrpSpPr/>
          <p:nvPr/>
        </p:nvGrpSpPr>
        <p:grpSpPr>
          <a:xfrm>
            <a:off x="306468" y="1607328"/>
            <a:ext cx="5486400" cy="1993392"/>
            <a:chOff x="365760" y="1481328"/>
            <a:chExt cx="5486400" cy="1993392"/>
          </a:xfrm>
        </p:grpSpPr>
        <p:sp>
          <p:nvSpPr>
            <p:cNvPr id="16" name="Rounded Rectangle 15"/>
            <p:cNvSpPr/>
            <p:nvPr/>
          </p:nvSpPr>
          <p:spPr>
            <a:xfrm>
              <a:off x="365760" y="1481328"/>
              <a:ext cx="5486400" cy="1993392"/>
            </a:xfrm>
            <a:prstGeom prst="roundRect">
              <a:avLst/>
            </a:prstGeom>
            <a:solidFill>
              <a:srgbClr val="E4F3F4"/>
            </a:solidFill>
            <a:ln w="19050">
              <a:solidFill>
                <a:srgbClr val="4494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66928" y="1572768"/>
              <a:ext cx="52120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dirty="0">
                  <a:solidFill>
                    <a:srgbClr val="449497"/>
                  </a:solidFill>
                  <a:latin typeface="Calibri"/>
                </a:rPr>
                <a:t>🌲  Random Forest Classifier  </a:t>
              </a:r>
              <a:r>
                <a:rPr sz="1200" b="0" dirty="0">
                  <a:solidFill>
                    <a:srgbClr val="556B7D"/>
                  </a:solidFill>
                  <a:latin typeface="Calibri"/>
                </a:rPr>
                <a:t>(200 trees, calibrated probabilities)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66928" y="1938528"/>
              <a:ext cx="5212080" cy="36576"/>
            </a:xfrm>
            <a:prstGeom prst="rect">
              <a:avLst/>
            </a:prstGeom>
            <a:solidFill>
              <a:srgbClr val="4494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Oval 18"/>
            <p:cNvSpPr/>
            <p:nvPr/>
          </p:nvSpPr>
          <p:spPr>
            <a:xfrm>
              <a:off x="566928" y="2121408"/>
              <a:ext cx="164592" cy="164592"/>
            </a:xfrm>
            <a:prstGeom prst="ellipse">
              <a:avLst/>
            </a:prstGeom>
            <a:solidFill>
              <a:srgbClr val="4494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22960" y="2029968"/>
              <a:ext cx="495604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>
                  <a:solidFill>
                    <a:srgbClr val="0D1B2A"/>
                  </a:solidFill>
                  <a:latin typeface="Calibri"/>
                </a:rPr>
                <a:t>Handles mixed feature types without scaling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566928" y="2468880"/>
              <a:ext cx="164592" cy="164592"/>
            </a:xfrm>
            <a:prstGeom prst="ellipse">
              <a:avLst/>
            </a:prstGeom>
            <a:solidFill>
              <a:srgbClr val="4494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22960" y="2377440"/>
              <a:ext cx="495604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>
                  <a:solidFill>
                    <a:srgbClr val="0D1B2A"/>
                  </a:solidFill>
                  <a:latin typeface="Calibri"/>
                </a:rPr>
                <a:t>Provides interpretable feature importance scores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566928" y="2816352"/>
              <a:ext cx="164592" cy="164592"/>
            </a:xfrm>
            <a:prstGeom prst="ellipse">
              <a:avLst/>
            </a:prstGeom>
            <a:solidFill>
              <a:srgbClr val="4494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22960" y="2724912"/>
              <a:ext cx="495604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0D1B2A"/>
                  </a:solidFill>
                  <a:latin typeface="Calibri"/>
                </a:rPr>
                <a:t>Works well with pseudo-labeled imbalanced data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566928" y="3163824"/>
              <a:ext cx="164592" cy="164592"/>
            </a:xfrm>
            <a:prstGeom prst="ellipse">
              <a:avLst/>
            </a:prstGeom>
            <a:solidFill>
              <a:srgbClr val="4494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22960" y="3072384"/>
              <a:ext cx="495604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0D1B2A"/>
                  </a:solidFill>
                  <a:latin typeface="Calibri"/>
                </a:rPr>
                <a:t>Soft probability scores — no hard eligibility gates</a:t>
              </a: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365633" y="3839595"/>
            <a:ext cx="3035808" cy="310896"/>
          </a:xfrm>
          <a:prstGeom prst="roundRect">
            <a:avLst/>
          </a:prstGeom>
          <a:solidFill>
            <a:srgbClr val="E4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361" y="3852575"/>
            <a:ext cx="28986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49497"/>
                </a:solidFill>
                <a:latin typeface="Calibri"/>
              </a:rPr>
              <a:t>17 FEATURES ACROSS 5 GROUPS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3E83322-F912-A5ED-875F-F4588A65CC9B}"/>
              </a:ext>
            </a:extLst>
          </p:cNvPr>
          <p:cNvGrpSpPr/>
          <p:nvPr/>
        </p:nvGrpSpPr>
        <p:grpSpPr>
          <a:xfrm>
            <a:off x="265176" y="4341038"/>
            <a:ext cx="5549226" cy="960120"/>
            <a:chOff x="265176" y="3904487"/>
            <a:chExt cx="5549226" cy="960120"/>
          </a:xfrm>
        </p:grpSpPr>
        <p:sp>
          <p:nvSpPr>
            <p:cNvPr id="29" name="Rounded Rectangle 28"/>
            <p:cNvSpPr/>
            <p:nvPr/>
          </p:nvSpPr>
          <p:spPr>
            <a:xfrm>
              <a:off x="365760" y="3904487"/>
              <a:ext cx="1024128" cy="96012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4494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Oval 29"/>
            <p:cNvSpPr/>
            <p:nvPr/>
          </p:nvSpPr>
          <p:spPr>
            <a:xfrm>
              <a:off x="749808" y="3977639"/>
              <a:ext cx="256032" cy="256032"/>
            </a:xfrm>
            <a:prstGeom prst="ellipse">
              <a:avLst/>
            </a:prstGeom>
            <a:solidFill>
              <a:srgbClr val="4494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49808" y="3977639"/>
              <a:ext cx="25603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 dirty="0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65176" y="4273470"/>
              <a:ext cx="1225296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i="0" dirty="0">
                  <a:solidFill>
                    <a:srgbClr val="449497"/>
                  </a:solidFill>
                  <a:latin typeface="Calibri"/>
                </a:rPr>
                <a:t>Condition Overlap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20623" y="4460355"/>
              <a:ext cx="9144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 dirty="0">
                  <a:solidFill>
                    <a:srgbClr val="556B7D"/>
                  </a:solidFill>
                  <a:latin typeface="Calibri"/>
                </a:rPr>
                <a:t>Jaccard, overlap ratios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463040" y="3904487"/>
              <a:ext cx="1024128" cy="96012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F5A62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Oval 34"/>
            <p:cNvSpPr/>
            <p:nvPr/>
          </p:nvSpPr>
          <p:spPr>
            <a:xfrm>
              <a:off x="1847088" y="3977639"/>
              <a:ext cx="256032" cy="256032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847088" y="3977639"/>
              <a:ext cx="25603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517904" y="4251960"/>
              <a:ext cx="91440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i="0">
                  <a:solidFill>
                    <a:srgbClr val="F5A623"/>
                  </a:solidFill>
                  <a:latin typeface="Calibri"/>
                </a:rPr>
                <a:t>Age &amp; Gender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535601" y="4467287"/>
              <a:ext cx="9144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 dirty="0">
                  <a:solidFill>
                    <a:srgbClr val="556B7D"/>
                  </a:solidFill>
                  <a:latin typeface="Calibri"/>
                </a:rPr>
                <a:t>Compatibility scores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560320" y="3904487"/>
              <a:ext cx="1024128" cy="96012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2EA0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Oval 39"/>
            <p:cNvSpPr/>
            <p:nvPr/>
          </p:nvSpPr>
          <p:spPr>
            <a:xfrm>
              <a:off x="2944368" y="3977639"/>
              <a:ext cx="256032" cy="256032"/>
            </a:xfrm>
            <a:prstGeom prst="ellipse">
              <a:avLst/>
            </a:prstGeom>
            <a:solidFill>
              <a:srgbClr val="2EA0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44368" y="3977639"/>
              <a:ext cx="25603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615184" y="4251960"/>
              <a:ext cx="91440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i="0">
                  <a:solidFill>
                    <a:srgbClr val="2EA05C"/>
                  </a:solidFill>
                  <a:latin typeface="Calibri"/>
                </a:rPr>
                <a:t>Geography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592468" y="4460061"/>
              <a:ext cx="9144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 dirty="0">
                  <a:solidFill>
                    <a:srgbClr val="556B7D"/>
                  </a:solidFill>
                  <a:latin typeface="Calibri"/>
                </a:rPr>
                <a:t>State-level feasibility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3657599" y="3904487"/>
              <a:ext cx="1024128" cy="96012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C92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Oval 44"/>
            <p:cNvSpPr/>
            <p:nvPr/>
          </p:nvSpPr>
          <p:spPr>
            <a:xfrm>
              <a:off x="4041648" y="3977639"/>
              <a:ext cx="256032" cy="256032"/>
            </a:xfrm>
            <a:prstGeom prst="ellipse">
              <a:avLst/>
            </a:prstGeom>
            <a:solidFill>
              <a:srgbClr val="C92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041648" y="3977639"/>
              <a:ext cx="25603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712463" y="4251960"/>
              <a:ext cx="91440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i="0">
                  <a:solidFill>
                    <a:srgbClr val="C92800"/>
                  </a:solidFill>
                  <a:latin typeface="Calibri"/>
                </a:rPr>
                <a:t>Medications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712463" y="4451430"/>
              <a:ext cx="9144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 dirty="0">
                  <a:solidFill>
                    <a:srgbClr val="556B7D"/>
                  </a:solidFill>
                  <a:latin typeface="Calibri"/>
                </a:rPr>
                <a:t>Drug keyword match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4754880" y="3904487"/>
              <a:ext cx="1024128" cy="96012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6B4F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Oval 49"/>
            <p:cNvSpPr/>
            <p:nvPr/>
          </p:nvSpPr>
          <p:spPr>
            <a:xfrm>
              <a:off x="5138928" y="3977639"/>
              <a:ext cx="256032" cy="256032"/>
            </a:xfrm>
            <a:prstGeom prst="ellipse">
              <a:avLst/>
            </a:prstGeom>
            <a:solidFill>
              <a:srgbClr val="6B4F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138928" y="3977639"/>
              <a:ext cx="25603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Calibri"/>
                </a:rPr>
                <a:t>5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753698" y="4265283"/>
              <a:ext cx="1060704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i="0" dirty="0">
                  <a:solidFill>
                    <a:srgbClr val="6B4FB8"/>
                  </a:solidFill>
                  <a:latin typeface="Calibri"/>
                </a:rPr>
                <a:t>Condition Profile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754880" y="4447474"/>
              <a:ext cx="9144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 dirty="0">
                  <a:solidFill>
                    <a:srgbClr val="556B7D"/>
                  </a:solidFill>
                  <a:latin typeface="Calibri"/>
                </a:rPr>
                <a:t>Rarity, burden, activity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86A84EA-FC7C-0C24-B76D-B349678F4C74}"/>
              </a:ext>
            </a:extLst>
          </p:cNvPr>
          <p:cNvGrpSpPr/>
          <p:nvPr/>
        </p:nvGrpSpPr>
        <p:grpSpPr>
          <a:xfrm>
            <a:off x="365633" y="5612499"/>
            <a:ext cx="5486400" cy="685800"/>
            <a:chOff x="365760" y="4983480"/>
            <a:chExt cx="5486400" cy="685800"/>
          </a:xfrm>
        </p:grpSpPr>
        <p:sp>
          <p:nvSpPr>
            <p:cNvPr id="54" name="Rounded Rectangle 53"/>
            <p:cNvSpPr/>
            <p:nvPr/>
          </p:nvSpPr>
          <p:spPr>
            <a:xfrm>
              <a:off x="365760" y="4983480"/>
              <a:ext cx="5486400" cy="685800"/>
            </a:xfrm>
            <a:prstGeom prst="roundRect">
              <a:avLst/>
            </a:prstGeom>
            <a:solidFill>
              <a:srgbClr val="F4F7FA"/>
            </a:solidFill>
            <a:ln w="12700">
              <a:solidFill>
                <a:srgbClr val="D0DC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66928" y="5102352"/>
              <a:ext cx="52120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dirty="0">
                  <a:solidFill>
                    <a:srgbClr val="0D1B2A"/>
                  </a:solidFill>
                  <a:latin typeface="Calibri"/>
                </a:rPr>
                <a:t>Score  =  </a:t>
              </a:r>
              <a:r>
                <a:rPr sz="2000" b="1" dirty="0">
                  <a:solidFill>
                    <a:srgbClr val="449497"/>
                  </a:solidFill>
                  <a:latin typeface="Calibri"/>
                </a:rPr>
                <a:t>60%</a:t>
              </a:r>
              <a:r>
                <a:rPr sz="2000" b="0" dirty="0">
                  <a:solidFill>
                    <a:srgbClr val="556B7D"/>
                  </a:solidFill>
                  <a:latin typeface="Calibri"/>
                </a:rPr>
                <a:t> </a:t>
              </a:r>
              <a:r>
                <a:rPr sz="1600" b="0" dirty="0">
                  <a:solidFill>
                    <a:srgbClr val="556B7D"/>
                  </a:solidFill>
                  <a:latin typeface="Calibri"/>
                </a:rPr>
                <a:t>× ML Eligibility  +  </a:t>
              </a:r>
              <a:r>
                <a:rPr sz="2000" b="1" dirty="0">
                  <a:solidFill>
                    <a:srgbClr val="C92800"/>
                  </a:solidFill>
                  <a:latin typeface="Calibri"/>
                </a:rPr>
                <a:t>40%</a:t>
              </a:r>
              <a:r>
                <a:rPr sz="2000" b="0" dirty="0">
                  <a:solidFill>
                    <a:srgbClr val="556B7D"/>
                  </a:solidFill>
                  <a:latin typeface="Calibri"/>
                </a:rPr>
                <a:t> </a:t>
              </a:r>
              <a:r>
                <a:rPr sz="1600" b="0" dirty="0">
                  <a:solidFill>
                    <a:srgbClr val="556B7D"/>
                  </a:solidFill>
                  <a:latin typeface="Calibri"/>
                </a:rPr>
                <a:t>× Condition Match</a:t>
              </a:r>
            </a:p>
          </p:txBody>
        </p:sp>
      </p:grpSp>
      <p:sp>
        <p:nvSpPr>
          <p:cNvPr id="56" name="Rounded Rectangle 55"/>
          <p:cNvSpPr/>
          <p:nvPr/>
        </p:nvSpPr>
        <p:spPr>
          <a:xfrm>
            <a:off x="6082640" y="1149930"/>
            <a:ext cx="2231136" cy="310896"/>
          </a:xfrm>
          <a:prstGeom prst="roundRect">
            <a:avLst/>
          </a:prstGeom>
          <a:solidFill>
            <a:srgbClr val="E6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92368" y="1168809"/>
            <a:ext cx="2093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EA05C"/>
                </a:solidFill>
                <a:latin typeface="Calibri"/>
              </a:rPr>
              <a:t>PERFORMANCE METRICS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F6A7DAD-87F7-A5DC-AD13-544E9336F1B4}"/>
              </a:ext>
            </a:extLst>
          </p:cNvPr>
          <p:cNvGrpSpPr/>
          <p:nvPr/>
        </p:nvGrpSpPr>
        <p:grpSpPr>
          <a:xfrm>
            <a:off x="6044184" y="1607328"/>
            <a:ext cx="5788152" cy="975289"/>
            <a:chOff x="6035040" y="1481328"/>
            <a:chExt cx="6053328" cy="1325880"/>
          </a:xfrm>
        </p:grpSpPr>
        <p:sp>
          <p:nvSpPr>
            <p:cNvPr id="58" name="Rounded Rectangle 57"/>
            <p:cNvSpPr/>
            <p:nvPr/>
          </p:nvSpPr>
          <p:spPr>
            <a:xfrm>
              <a:off x="6035040" y="1481328"/>
              <a:ext cx="1444752" cy="1325880"/>
            </a:xfrm>
            <a:prstGeom prst="roundRect">
              <a:avLst/>
            </a:prstGeom>
            <a:solidFill>
              <a:srgbClr val="E6F6ED"/>
            </a:solidFill>
            <a:ln w="19050">
              <a:solidFill>
                <a:srgbClr val="2EA0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035040" y="1554480"/>
              <a:ext cx="1444752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2EA05C"/>
                  </a:solidFill>
                  <a:latin typeface="Calibri"/>
                </a:rPr>
                <a:t>85.15%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035040" y="2148840"/>
              <a:ext cx="1444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556B7D"/>
                  </a:solidFill>
                  <a:latin typeface="Calibri"/>
                </a:rPr>
                <a:t>Accuracy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7571231" y="1481328"/>
              <a:ext cx="1444752" cy="1325880"/>
            </a:xfrm>
            <a:prstGeom prst="roundRect">
              <a:avLst/>
            </a:prstGeom>
            <a:solidFill>
              <a:srgbClr val="FDEEE9"/>
            </a:solidFill>
            <a:ln w="19050">
              <a:solidFill>
                <a:srgbClr val="C92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571231" y="1554480"/>
              <a:ext cx="1444752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C92800"/>
                  </a:solidFill>
                  <a:latin typeface="Calibri"/>
                </a:rPr>
                <a:t>99.25%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571231" y="2148840"/>
              <a:ext cx="1444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556B7D"/>
                  </a:solidFill>
                  <a:latin typeface="Calibri"/>
                </a:rPr>
                <a:t>Recall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9107424" y="1481328"/>
              <a:ext cx="1444752" cy="1325880"/>
            </a:xfrm>
            <a:prstGeom prst="roundRect">
              <a:avLst/>
            </a:prstGeom>
            <a:solidFill>
              <a:srgbClr val="E4F3F4"/>
            </a:solidFill>
            <a:ln w="19050">
              <a:solidFill>
                <a:srgbClr val="4494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9107424" y="1554480"/>
              <a:ext cx="1444752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449497"/>
                  </a:solidFill>
                  <a:latin typeface="Calibri"/>
                </a:rPr>
                <a:t>91.68%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107424" y="2148840"/>
              <a:ext cx="1444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 dirty="0">
                  <a:solidFill>
                    <a:srgbClr val="556B7D"/>
                  </a:solidFill>
                  <a:latin typeface="Calibri"/>
                </a:rPr>
                <a:t>F1 Score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10643616" y="1481328"/>
              <a:ext cx="1444752" cy="1325880"/>
            </a:xfrm>
            <a:prstGeom prst="roundRect">
              <a:avLst/>
            </a:prstGeom>
            <a:solidFill>
              <a:srgbClr val="FEF5E4"/>
            </a:solidFill>
            <a:ln w="19050">
              <a:solidFill>
                <a:srgbClr val="F5A62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0643616" y="1554480"/>
              <a:ext cx="1444752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F5A623"/>
                  </a:solidFill>
                  <a:latin typeface="Calibri"/>
                </a:rPr>
                <a:t>0.5976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643616" y="2148840"/>
              <a:ext cx="1444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 dirty="0">
                  <a:solidFill>
                    <a:srgbClr val="556B7D"/>
                  </a:solidFill>
                  <a:latin typeface="Calibri"/>
                </a:rPr>
                <a:t>AUC-ROC</a:t>
              </a:r>
            </a:p>
          </p:txBody>
        </p:sp>
      </p:grpSp>
      <p:sp>
        <p:nvSpPr>
          <p:cNvPr id="70" name="Rounded Rectangle 69"/>
          <p:cNvSpPr/>
          <p:nvPr/>
        </p:nvSpPr>
        <p:spPr>
          <a:xfrm>
            <a:off x="6040939" y="2760900"/>
            <a:ext cx="2231136" cy="310896"/>
          </a:xfrm>
          <a:prstGeom prst="roundRect">
            <a:avLst/>
          </a:prstGeom>
          <a:solidFill>
            <a:srgbClr val="E4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150667" y="2773880"/>
            <a:ext cx="2093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49497"/>
                </a:solidFill>
                <a:latin typeface="Calibri"/>
              </a:rPr>
              <a:t>EVALUATION INSIGHTS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35040" y="3264408"/>
            <a:ext cx="5788152" cy="203911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217920" y="3355848"/>
            <a:ext cx="5440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449497"/>
                </a:solidFill>
                <a:latin typeface="Calibri"/>
              </a:rPr>
              <a:t>Age features  </a:t>
            </a:r>
            <a:r>
              <a:rPr sz="1200" b="0" dirty="0">
                <a:solidFill>
                  <a:srgbClr val="556B7D"/>
                </a:solidFill>
                <a:latin typeface="Calibri"/>
              </a:rPr>
              <a:t>are the predictor (45% of total importance) — trials with tight age windows create the strongest signal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3840480"/>
            <a:ext cx="5440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9497"/>
                </a:solidFill>
                <a:latin typeface="Calibri"/>
              </a:rPr>
              <a:t>MIMIC-IV validation  </a:t>
            </a:r>
            <a:r>
              <a:rPr sz="1200" b="0">
                <a:solidFill>
                  <a:srgbClr val="556B7D"/>
                </a:solidFill>
                <a:latin typeface="Calibri"/>
              </a:rPr>
              <a:t>90% of 100 real ICU patients mapped to our condition vocabulary — system works on real clinical data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4325112"/>
            <a:ext cx="5440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449497"/>
                </a:solidFill>
                <a:latin typeface="Calibri"/>
              </a:rPr>
              <a:t>High Recall (99%) is intentional  </a:t>
            </a:r>
            <a:r>
              <a:rPr sz="1200" b="0" dirty="0">
                <a:solidFill>
                  <a:srgbClr val="556B7D"/>
                </a:solidFill>
                <a:latin typeface="Calibri"/>
              </a:rPr>
              <a:t>missing an eligible patient is worse than showing a borderline trial — patients can self-screen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4809744"/>
            <a:ext cx="5440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9497"/>
                </a:solidFill>
                <a:latin typeface="Calibri"/>
              </a:rPr>
              <a:t>AUC-ROC = 0.60  </a:t>
            </a:r>
            <a:r>
              <a:rPr sz="1200" b="0">
                <a:solidFill>
                  <a:srgbClr val="556B7D"/>
                </a:solidFill>
                <a:latin typeface="Calibri"/>
              </a:rPr>
              <a:t>reflects 82.1% positive rate in pseudo-labels, not model failure — recall and F1 are the key business metrics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C348680-8F72-FF99-91D6-3B5893F62AED}"/>
              </a:ext>
            </a:extLst>
          </p:cNvPr>
          <p:cNvGrpSpPr/>
          <p:nvPr/>
        </p:nvGrpSpPr>
        <p:grpSpPr>
          <a:xfrm>
            <a:off x="6076239" y="5612500"/>
            <a:ext cx="5486400" cy="704088"/>
            <a:chOff x="6035040" y="5394960"/>
            <a:chExt cx="5788152" cy="594360"/>
          </a:xfrm>
        </p:grpSpPr>
        <p:sp>
          <p:nvSpPr>
            <p:cNvPr id="77" name="Rounded Rectangle 76"/>
            <p:cNvSpPr/>
            <p:nvPr/>
          </p:nvSpPr>
          <p:spPr>
            <a:xfrm>
              <a:off x="6035040" y="5394960"/>
              <a:ext cx="5788152" cy="594360"/>
            </a:xfrm>
            <a:prstGeom prst="roundRect">
              <a:avLst/>
            </a:prstGeom>
            <a:solidFill>
              <a:srgbClr val="FDEEE9"/>
            </a:solidFill>
            <a:ln w="12700">
              <a:solidFill>
                <a:srgbClr val="C92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217920" y="5468112"/>
              <a:ext cx="55321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dirty="0">
                  <a:solidFill>
                    <a:srgbClr val="C92800"/>
                  </a:solidFill>
                  <a:latin typeface="Calibri"/>
                </a:rPr>
                <a:t>Real-World Test:  </a:t>
              </a:r>
              <a:r>
                <a:rPr sz="1200" b="0" dirty="0">
                  <a:solidFill>
                    <a:srgbClr val="0D1B2A"/>
                  </a:solidFill>
                  <a:latin typeface="Calibri"/>
                </a:rPr>
                <a:t>MIMIC-IV (100 real ICU patients, NDA signed via PhysioNet) → 90% condition mapping success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062EB19-24D0-3A4B-E4F0-D93B82E3DCC0}"/>
              </a:ext>
            </a:extLst>
          </p:cNvPr>
          <p:cNvGrpSpPr/>
          <p:nvPr/>
        </p:nvGrpSpPr>
        <p:grpSpPr>
          <a:xfrm>
            <a:off x="320040" y="356445"/>
            <a:ext cx="1828800" cy="338554"/>
            <a:chOff x="320040" y="356445"/>
            <a:chExt cx="1828800" cy="338554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87C7FCE-03FB-8280-6A33-DDD2C19C0A73}"/>
                </a:ext>
              </a:extLst>
            </p:cNvPr>
            <p:cNvSpPr txBox="1"/>
            <p:nvPr/>
          </p:nvSpPr>
          <p:spPr>
            <a:xfrm>
              <a:off x="320040" y="356445"/>
              <a:ext cx="18288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dirty="0">
                  <a:solidFill>
                    <a:srgbClr val="449497"/>
                  </a:solidFill>
                  <a:latin typeface="Calibri"/>
                </a:rPr>
                <a:t>Second</a:t>
              </a:r>
              <a:r>
                <a:rPr sz="1600" b="1" dirty="0">
                  <a:solidFill>
                    <a:srgbClr val="C92800"/>
                  </a:solidFill>
                  <a:latin typeface="Calibri"/>
                </a:rPr>
                <a:t> Life</a:t>
              </a:r>
            </a:p>
          </p:txBody>
        </p:sp>
        <p:sp>
          <p:nvSpPr>
            <p:cNvPr id="81" name="Freeform 3">
              <a:extLst>
                <a:ext uri="{FF2B5EF4-FFF2-40B4-BE49-F238E27FC236}">
                  <a16:creationId xmlns:a16="http://schemas.microsoft.com/office/drawing/2014/main" id="{C0B4CF2A-CF5D-F86A-8E20-5321D5BFAB86}"/>
                </a:ext>
              </a:extLst>
            </p:cNvPr>
            <p:cNvSpPr/>
            <p:nvPr/>
          </p:nvSpPr>
          <p:spPr>
            <a:xfrm>
              <a:off x="1408035" y="383160"/>
              <a:ext cx="295567" cy="291255"/>
            </a:xfrm>
            <a:custGeom>
              <a:avLst/>
              <a:gdLst/>
              <a:ahLst/>
              <a:cxnLst/>
              <a:rect l="l" t="t" r="r" b="b"/>
              <a:pathLst>
                <a:path w="513610" h="513610">
                  <a:moveTo>
                    <a:pt x="0" y="0"/>
                  </a:moveTo>
                  <a:lnTo>
                    <a:pt x="513610" y="0"/>
                  </a:lnTo>
                  <a:lnTo>
                    <a:pt x="513610" y="513611"/>
                  </a:lnTo>
                  <a:lnTo>
                    <a:pt x="0" y="5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B5947A14-4EE3-3E0F-D6C7-098E78407A9A}"/>
              </a:ext>
            </a:extLst>
          </p:cNvPr>
          <p:cNvSpPr txBox="1"/>
          <p:nvPr/>
        </p:nvSpPr>
        <p:spPr>
          <a:xfrm>
            <a:off x="2487168" y="298935"/>
            <a:ext cx="8686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D1B2A"/>
                </a:solidFill>
              </a:rPr>
              <a:t>Modeling &amp;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31720" y="201168"/>
            <a:ext cx="27432" cy="594360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21440" y="228600"/>
            <a:ext cx="502920" cy="502920"/>
          </a:xfrm>
          <a:prstGeom prst="ellipse">
            <a:avLst/>
          </a:prstGeom>
          <a:solidFill>
            <a:srgbClr val="44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1440" y="30295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4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F611EF3-3A41-8EE8-17BE-FE11AAA0A730}"/>
              </a:ext>
            </a:extLst>
          </p:cNvPr>
          <p:cNvGrpSpPr/>
          <p:nvPr/>
        </p:nvGrpSpPr>
        <p:grpSpPr>
          <a:xfrm>
            <a:off x="6164314" y="3386055"/>
            <a:ext cx="1993392" cy="315740"/>
            <a:chOff x="365760" y="1017385"/>
            <a:chExt cx="1993392" cy="315740"/>
          </a:xfrm>
        </p:grpSpPr>
        <p:sp>
          <p:nvSpPr>
            <p:cNvPr id="14" name="Rounded Rectangle 13"/>
            <p:cNvSpPr/>
            <p:nvPr/>
          </p:nvSpPr>
          <p:spPr>
            <a:xfrm>
              <a:off x="365760" y="1022229"/>
              <a:ext cx="1993392" cy="310896"/>
            </a:xfrm>
            <a:prstGeom prst="roundRect">
              <a:avLst/>
            </a:prstGeom>
            <a:solidFill>
              <a:srgbClr val="FDEE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8056" y="1017385"/>
              <a:ext cx="182879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C92800"/>
                  </a:solidFill>
                  <a:latin typeface="Calibri"/>
                </a:rPr>
                <a:t>DEPLOYMENT</a:t>
              </a:r>
              <a:endParaRPr sz="1400" b="1" i="0" dirty="0">
                <a:solidFill>
                  <a:srgbClr val="C92800"/>
                </a:solidFill>
                <a:latin typeface="Calibri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8115F08-D341-445E-B775-E3EEE9811E15}"/>
              </a:ext>
            </a:extLst>
          </p:cNvPr>
          <p:cNvGrpSpPr/>
          <p:nvPr/>
        </p:nvGrpSpPr>
        <p:grpSpPr>
          <a:xfrm>
            <a:off x="265176" y="1787040"/>
            <a:ext cx="11457432" cy="1280216"/>
            <a:chOff x="365760" y="1481328"/>
            <a:chExt cx="11649456" cy="1828800"/>
          </a:xfrm>
        </p:grpSpPr>
        <p:sp>
          <p:nvSpPr>
            <p:cNvPr id="16" name="Rounded Rectangle 15"/>
            <p:cNvSpPr/>
            <p:nvPr/>
          </p:nvSpPr>
          <p:spPr>
            <a:xfrm>
              <a:off x="365760" y="1481328"/>
              <a:ext cx="2788920" cy="1828800"/>
            </a:xfrm>
            <a:prstGeom prst="roundRect">
              <a:avLst/>
            </a:prstGeom>
            <a:solidFill>
              <a:srgbClr val="E4F3F4"/>
            </a:solidFill>
            <a:ln w="19050">
              <a:solidFill>
                <a:srgbClr val="4494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2920" y="1572768"/>
              <a:ext cx="25603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449497"/>
                  </a:solidFill>
                  <a:latin typeface="Calibri"/>
                </a:rPr>
                <a:t>🏥  Deploy to Hospitals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02920" y="1965960"/>
              <a:ext cx="2542032" cy="36576"/>
            </a:xfrm>
            <a:prstGeom prst="rect">
              <a:avLst/>
            </a:prstGeom>
            <a:solidFill>
              <a:srgbClr val="4494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2920" y="2029968"/>
              <a:ext cx="256032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556B7D"/>
                  </a:solidFill>
                  <a:latin typeface="Calibri"/>
                </a:rPr>
                <a:t>Use Second Life's My Trials dashboard to identify relevant active trials and opt-in patients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319272" y="1481328"/>
              <a:ext cx="2788920" cy="1828800"/>
            </a:xfrm>
            <a:prstGeom prst="roundRect">
              <a:avLst/>
            </a:prstGeom>
            <a:solidFill>
              <a:srgbClr val="FEF5E4"/>
            </a:solidFill>
            <a:ln w="19050">
              <a:solidFill>
                <a:srgbClr val="F5A62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456432" y="1572768"/>
              <a:ext cx="25603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F5A623"/>
                  </a:solidFill>
                  <a:latin typeface="Calibri"/>
                </a:rPr>
                <a:t>🧑‍⚕️  Empower Patients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56432" y="1965960"/>
              <a:ext cx="2542032" cy="36576"/>
            </a:xfrm>
            <a:prstGeom prst="rect">
              <a:avLst/>
            </a:prstGeom>
            <a:solidFill>
              <a:srgbClr val="F5A6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56432" y="2029968"/>
              <a:ext cx="256032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556B7D"/>
                  </a:solidFill>
                  <a:latin typeface="Calibri"/>
                </a:rPr>
                <a:t>Patients self-screen using AI-ranked trials — reducing reliance on physician referrals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272784" y="1481328"/>
              <a:ext cx="2788920" cy="1828800"/>
            </a:xfrm>
            <a:prstGeom prst="roundRect">
              <a:avLst/>
            </a:prstGeom>
            <a:solidFill>
              <a:srgbClr val="E6F6ED"/>
            </a:solidFill>
            <a:ln w="19050">
              <a:solidFill>
                <a:srgbClr val="2EA0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09944" y="1572768"/>
              <a:ext cx="25603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2EA05C"/>
                  </a:solidFill>
                  <a:latin typeface="Calibri"/>
                </a:rPr>
                <a:t>🔒  Privacy-First Rollout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409944" y="1965960"/>
              <a:ext cx="2542032" cy="36576"/>
            </a:xfrm>
            <a:prstGeom prst="rect">
              <a:avLst/>
            </a:prstGeom>
            <a:solidFill>
              <a:srgbClr val="2EA0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409944" y="2029968"/>
              <a:ext cx="25603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>
                  <a:solidFill>
                    <a:srgbClr val="556B7D"/>
                  </a:solidFill>
                  <a:latin typeface="Calibri"/>
                </a:rPr>
                <a:t>Patient consent drives all visibility — fully HIPAA-aligned opt-in model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226296" y="1481328"/>
              <a:ext cx="2788920" cy="1828800"/>
            </a:xfrm>
            <a:prstGeom prst="roundRect">
              <a:avLst/>
            </a:prstGeom>
            <a:solidFill>
              <a:srgbClr val="FDEEE9"/>
            </a:solidFill>
            <a:ln w="19050">
              <a:solidFill>
                <a:srgbClr val="C92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363456" y="1572768"/>
              <a:ext cx="25603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C92800"/>
                  </a:solidFill>
                  <a:latin typeface="Calibri"/>
                </a:rPr>
                <a:t>🌐  No-Install Deployment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363456" y="1965960"/>
              <a:ext cx="2542032" cy="36576"/>
            </a:xfrm>
            <a:prstGeom prst="rect">
              <a:avLst/>
            </a:prstGeom>
            <a:solidFill>
              <a:srgbClr val="C92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363456" y="2029968"/>
              <a:ext cx="256032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>
                  <a:solidFill>
                    <a:srgbClr val="556B7D"/>
                  </a:solidFill>
                  <a:latin typeface="Calibri"/>
                </a:rPr>
                <a:t>Available at Hugging Face Spaces — hospitals and patients access via browser, no setup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CB9B0DD-63FC-8D39-5FB3-055821B3E480}"/>
              </a:ext>
            </a:extLst>
          </p:cNvPr>
          <p:cNvGrpSpPr/>
          <p:nvPr/>
        </p:nvGrpSpPr>
        <p:grpSpPr>
          <a:xfrm>
            <a:off x="327174" y="1258364"/>
            <a:ext cx="2457288" cy="321349"/>
            <a:chOff x="437072" y="4099191"/>
            <a:chExt cx="2457288" cy="321349"/>
          </a:xfrm>
        </p:grpSpPr>
        <p:sp>
          <p:nvSpPr>
            <p:cNvPr id="32" name="Rounded Rectangle 31"/>
            <p:cNvSpPr/>
            <p:nvPr/>
          </p:nvSpPr>
          <p:spPr>
            <a:xfrm>
              <a:off x="437072" y="4099191"/>
              <a:ext cx="1839783" cy="310896"/>
            </a:xfrm>
            <a:prstGeom prst="roundRect">
              <a:avLst/>
            </a:prstGeom>
            <a:solidFill>
              <a:srgbClr val="E4F3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41936" y="4112763"/>
              <a:ext cx="24524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449497"/>
                  </a:solidFill>
                  <a:latin typeface="Calibri"/>
                </a:rPr>
                <a:t>RECOMMENDATIONS</a:t>
              </a:r>
              <a:endParaRPr sz="1400" b="1" i="0" dirty="0">
                <a:solidFill>
                  <a:srgbClr val="449497"/>
                </a:solidFill>
                <a:latin typeface="Calibri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0847B3D-5A79-5BD9-1748-43C02585B99B}"/>
              </a:ext>
            </a:extLst>
          </p:cNvPr>
          <p:cNvGrpSpPr/>
          <p:nvPr/>
        </p:nvGrpSpPr>
        <p:grpSpPr>
          <a:xfrm>
            <a:off x="6115494" y="3945023"/>
            <a:ext cx="5577840" cy="2023075"/>
            <a:chOff x="365760" y="3767328"/>
            <a:chExt cx="5577840" cy="2023075"/>
          </a:xfrm>
        </p:grpSpPr>
        <p:sp>
          <p:nvSpPr>
            <p:cNvPr id="34" name="Rounded Rectangle 33"/>
            <p:cNvSpPr/>
            <p:nvPr/>
          </p:nvSpPr>
          <p:spPr>
            <a:xfrm>
              <a:off x="365760" y="3767328"/>
              <a:ext cx="5577840" cy="1993392"/>
            </a:xfrm>
            <a:prstGeom prst="roundRect">
              <a:avLst/>
            </a:prstGeom>
            <a:solidFill>
              <a:srgbClr val="F4F7FA"/>
            </a:solidFill>
            <a:ln w="12700">
              <a:solidFill>
                <a:srgbClr val="D0DC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66928" y="3904807"/>
              <a:ext cx="521208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449497"/>
                  </a:solidFill>
                </a:rPr>
                <a:t>Local — </a:t>
              </a:r>
              <a:r>
                <a:rPr lang="en-US" sz="1200" dirty="0">
                  <a:solidFill>
                    <a:srgbClr val="556B7D"/>
                  </a:solidFill>
                </a:rPr>
                <a:t>python app.py  →  localhost:5000 </a:t>
              </a:r>
            </a:p>
            <a:p>
              <a:r>
                <a:rPr lang="en-US" sz="1200" i="1" dirty="0">
                  <a:solidFill>
                    <a:srgbClr val="556B7D"/>
                  </a:solidFill>
                </a:rPr>
                <a:t>Flask 3.1  ·  Boots in 1-3 minutes</a:t>
              </a:r>
            </a:p>
            <a:p>
              <a:endParaRPr lang="en-US" sz="1200" dirty="0">
                <a:solidFill>
                  <a:srgbClr val="0D1B2A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66928" y="4424348"/>
              <a:ext cx="521208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449497"/>
                  </a:solidFill>
                  <a:latin typeface="Calibri"/>
                </a:rPr>
                <a:t>Architecture (4 Layers)</a:t>
              </a:r>
              <a:r>
                <a:rPr sz="1200" b="1" dirty="0">
                  <a:solidFill>
                    <a:srgbClr val="449497"/>
                  </a:solidFill>
                  <a:latin typeface="Calibri"/>
                </a:rPr>
                <a:t> </a:t>
              </a:r>
              <a:endParaRPr lang="en-US" sz="1200" b="1" dirty="0">
                <a:solidFill>
                  <a:srgbClr val="449497"/>
                </a:solidFill>
                <a:latin typeface="Calibri"/>
              </a:endParaRPr>
            </a:p>
            <a:p>
              <a:r>
                <a:rPr lang="en-US" sz="1200" dirty="0">
                  <a:solidFill>
                    <a:srgbClr val="556B7D"/>
                  </a:solidFill>
                </a:rPr>
                <a:t>Browser  →  Flask API  →  ML + Database  →  Storage (SQLite + CSV)</a:t>
              </a:r>
            </a:p>
            <a:p>
              <a:pPr algn="l"/>
              <a:endParaRPr sz="1200" b="0" dirty="0">
                <a:solidFill>
                  <a:srgbClr val="0D1B2A"/>
                </a:solidFill>
                <a:latin typeface="Calibri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66928" y="4959406"/>
              <a:ext cx="521208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rgbClr val="449497"/>
                  </a:solidFill>
                  <a:latin typeface="Calibri"/>
                </a:rPr>
                <a:t>Deployed  </a:t>
              </a:r>
              <a:r>
                <a:rPr sz="1200" dirty="0">
                  <a:solidFill>
                    <a:srgbClr val="556B7D"/>
                  </a:solidFill>
                </a:rPr>
                <a:t>publicly on </a:t>
              </a:r>
              <a:r>
                <a:rPr lang="en-US" sz="1200" dirty="0">
                  <a:solidFill>
                    <a:srgbClr val="556B7D"/>
                  </a:solidFill>
                </a:rPr>
                <a:t>🤗 </a:t>
              </a:r>
              <a:r>
                <a:rPr sz="1200" dirty="0">
                  <a:solidFill>
                    <a:srgbClr val="556B7D"/>
                  </a:solidFill>
                </a:rPr>
                <a:t>Hugging Face Spaces — zero installation, browser-accessible</a:t>
              </a:r>
              <a:endParaRPr lang="en-US" sz="1200" dirty="0">
                <a:solidFill>
                  <a:srgbClr val="556B7D"/>
                </a:solidFill>
              </a:endParaRPr>
            </a:p>
            <a:p>
              <a:r>
                <a:rPr lang="en-US" sz="1200" dirty="0">
                  <a:solidFill>
                    <a:srgbClr val="449497"/>
                  </a:solidFill>
                </a:rPr>
                <a:t>huggingface.co/spaces/MrNoOne07/second-life</a:t>
              </a:r>
            </a:p>
            <a:p>
              <a:endParaRPr sz="1200" b="0" dirty="0">
                <a:solidFill>
                  <a:srgbClr val="0D1B2A"/>
                </a:solidFill>
                <a:latin typeface="Calibri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0E90E3A-CA14-D86B-70AB-51915F671885}"/>
              </a:ext>
            </a:extLst>
          </p:cNvPr>
          <p:cNvGrpSpPr/>
          <p:nvPr/>
        </p:nvGrpSpPr>
        <p:grpSpPr>
          <a:xfrm>
            <a:off x="2359152" y="6359006"/>
            <a:ext cx="7472777" cy="345231"/>
            <a:chOff x="365759" y="5943600"/>
            <a:chExt cx="7472777" cy="345231"/>
          </a:xfrm>
        </p:grpSpPr>
        <p:sp>
          <p:nvSpPr>
            <p:cNvPr id="39" name="Rounded Rectangle 38"/>
            <p:cNvSpPr/>
            <p:nvPr/>
          </p:nvSpPr>
          <p:spPr>
            <a:xfrm>
              <a:off x="365759" y="5943600"/>
              <a:ext cx="7269481" cy="345231"/>
            </a:xfrm>
            <a:prstGeom prst="roundRect">
              <a:avLst/>
            </a:prstGeom>
            <a:solidFill>
              <a:srgbClr val="E4F3F4"/>
            </a:solidFill>
            <a:ln w="19050">
              <a:solidFill>
                <a:srgbClr val="4494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66928" y="5943600"/>
              <a:ext cx="72716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dirty="0">
                  <a:solidFill>
                    <a:srgbClr val="449497"/>
                  </a:solidFill>
                  <a:latin typeface="Calibri"/>
                </a:rPr>
                <a:t>Impact:  </a:t>
              </a:r>
              <a:r>
                <a:rPr sz="1200" b="0" dirty="0">
                  <a:solidFill>
                    <a:srgbClr val="0D1B2A"/>
                  </a:solidFill>
                  <a:latin typeface="Calibri"/>
                </a:rPr>
                <a:t>Reduces trial discovery from hours to seconds for 265K+ patients across 65K+ recruiting trials.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BAFA8B9-E548-3058-A4A3-446E1DCCE72D}"/>
              </a:ext>
            </a:extLst>
          </p:cNvPr>
          <p:cNvGrpSpPr/>
          <p:nvPr/>
        </p:nvGrpSpPr>
        <p:grpSpPr>
          <a:xfrm>
            <a:off x="398389" y="3375474"/>
            <a:ext cx="1371600" cy="321349"/>
            <a:chOff x="6080760" y="3456432"/>
            <a:chExt cx="1371600" cy="321349"/>
          </a:xfrm>
        </p:grpSpPr>
        <p:sp>
          <p:nvSpPr>
            <p:cNvPr id="41" name="Rounded Rectangle 40"/>
            <p:cNvSpPr/>
            <p:nvPr/>
          </p:nvSpPr>
          <p:spPr>
            <a:xfrm>
              <a:off x="6080760" y="3456432"/>
              <a:ext cx="1371600" cy="310896"/>
            </a:xfrm>
            <a:prstGeom prst="roundRect">
              <a:avLst/>
            </a:prstGeom>
            <a:solidFill>
              <a:srgbClr val="E4F3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178986" y="3470004"/>
              <a:ext cx="12344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449497"/>
                  </a:solidFill>
                  <a:latin typeface="Calibri"/>
                </a:rPr>
                <a:t>NEXT STEPS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2664AE6-44A1-B86B-139B-DA1446577657}"/>
              </a:ext>
            </a:extLst>
          </p:cNvPr>
          <p:cNvGrpSpPr/>
          <p:nvPr/>
        </p:nvGrpSpPr>
        <p:grpSpPr>
          <a:xfrm>
            <a:off x="270412" y="3944095"/>
            <a:ext cx="5575769" cy="2024003"/>
            <a:chOff x="227671" y="4131684"/>
            <a:chExt cx="5575769" cy="2024003"/>
          </a:xfrm>
        </p:grpSpPr>
        <p:sp>
          <p:nvSpPr>
            <p:cNvPr id="43" name="Rounded Rectangle 42"/>
            <p:cNvSpPr/>
            <p:nvPr/>
          </p:nvSpPr>
          <p:spPr>
            <a:xfrm>
              <a:off x="227671" y="4131684"/>
              <a:ext cx="5575769" cy="2024003"/>
            </a:xfrm>
            <a:prstGeom prst="roundRect">
              <a:avLst/>
            </a:prstGeom>
            <a:solidFill>
              <a:srgbClr val="F4F7FA"/>
            </a:solidFill>
            <a:ln w="12700">
              <a:solidFill>
                <a:srgbClr val="D0DC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Oval 43"/>
            <p:cNvSpPr/>
            <p:nvPr/>
          </p:nvSpPr>
          <p:spPr>
            <a:xfrm>
              <a:off x="486466" y="4309401"/>
              <a:ext cx="237310" cy="236957"/>
            </a:xfrm>
            <a:prstGeom prst="ellipse">
              <a:avLst/>
            </a:prstGeom>
            <a:solidFill>
              <a:srgbClr val="4494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84873" y="4309401"/>
              <a:ext cx="237310" cy="236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 dirty="0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52133" y="4196863"/>
              <a:ext cx="453207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dirty="0">
                  <a:solidFill>
                    <a:srgbClr val="0D1B2A"/>
                  </a:solidFill>
                  <a:latin typeface="Calibri"/>
                </a:rPr>
                <a:t>NLP on eligibility text  </a:t>
              </a:r>
              <a:r>
                <a:rPr sz="1200" b="0" dirty="0">
                  <a:solidFill>
                    <a:srgbClr val="556B7D"/>
                  </a:solidFill>
                  <a:latin typeface="Calibri"/>
                </a:rPr>
                <a:t>Parse free-text criteria to add hard inclusion / exclusion gates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486466" y="4783314"/>
              <a:ext cx="235717" cy="236957"/>
            </a:xfrm>
            <a:prstGeom prst="ellipse">
              <a:avLst/>
            </a:prstGeom>
            <a:solidFill>
              <a:srgbClr val="4494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96984" y="4783313"/>
              <a:ext cx="213087" cy="236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 dirty="0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68513" y="4668981"/>
              <a:ext cx="453207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dirty="0">
                  <a:solidFill>
                    <a:srgbClr val="0D1B2A"/>
                  </a:solidFill>
                  <a:latin typeface="Calibri"/>
                </a:rPr>
                <a:t>EHR / FHIR integration  </a:t>
              </a:r>
              <a:r>
                <a:rPr sz="1200" b="0" dirty="0">
                  <a:solidFill>
                    <a:srgbClr val="556B7D"/>
                  </a:solidFill>
                  <a:latin typeface="Calibri"/>
                </a:rPr>
                <a:t>Auto-import patient conditions directly from hospital systems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486466" y="5257228"/>
              <a:ext cx="237310" cy="236957"/>
            </a:xfrm>
            <a:prstGeom prst="ellipse">
              <a:avLst/>
            </a:prstGeom>
            <a:solidFill>
              <a:srgbClr val="4494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96984" y="5257226"/>
              <a:ext cx="213087" cy="236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 dirty="0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66920" y="5127421"/>
              <a:ext cx="45320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dirty="0">
                  <a:solidFill>
                    <a:srgbClr val="0D1B2A"/>
                  </a:solidFill>
                  <a:latin typeface="Calibri"/>
                </a:rPr>
                <a:t>Larger real-patient validation  </a:t>
              </a:r>
              <a:r>
                <a:rPr sz="1200" b="0" dirty="0">
                  <a:solidFill>
                    <a:srgbClr val="556B7D"/>
                  </a:solidFill>
                  <a:latin typeface="Calibri"/>
                </a:rPr>
                <a:t>Expand MIMIC-IV tests beyond demo to full dataset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486466" y="5731141"/>
              <a:ext cx="237310" cy="236957"/>
            </a:xfrm>
            <a:prstGeom prst="ellipse">
              <a:avLst/>
            </a:prstGeom>
            <a:solidFill>
              <a:srgbClr val="4494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96984" y="5731141"/>
              <a:ext cx="213087" cy="236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 dirty="0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66920" y="5618786"/>
              <a:ext cx="45320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dirty="0">
                  <a:solidFill>
                    <a:srgbClr val="0D1B2A"/>
                  </a:solidFill>
                  <a:latin typeface="Calibri"/>
                </a:rPr>
                <a:t>Improve AUC  </a:t>
              </a:r>
              <a:r>
                <a:rPr sz="1200" b="0" dirty="0">
                  <a:solidFill>
                    <a:srgbClr val="556B7D"/>
                  </a:solidFill>
                  <a:latin typeface="Calibri"/>
                </a:rPr>
                <a:t>Balance pseudo-labels to raise discrimination from 0.60 → 0.70+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013847D-847C-4515-02F8-01B07FD6FFA4}"/>
              </a:ext>
            </a:extLst>
          </p:cNvPr>
          <p:cNvGrpSpPr/>
          <p:nvPr/>
        </p:nvGrpSpPr>
        <p:grpSpPr>
          <a:xfrm>
            <a:off x="320040" y="356445"/>
            <a:ext cx="1828800" cy="338554"/>
            <a:chOff x="320040" y="356445"/>
            <a:chExt cx="1828800" cy="338554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803622E-1858-CEE6-2C19-641A5860F7A4}"/>
                </a:ext>
              </a:extLst>
            </p:cNvPr>
            <p:cNvSpPr txBox="1"/>
            <p:nvPr/>
          </p:nvSpPr>
          <p:spPr>
            <a:xfrm>
              <a:off x="320040" y="356445"/>
              <a:ext cx="18288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dirty="0">
                  <a:solidFill>
                    <a:srgbClr val="449497"/>
                  </a:solidFill>
                  <a:latin typeface="Calibri"/>
                </a:rPr>
                <a:t>Second</a:t>
              </a:r>
              <a:r>
                <a:rPr sz="1600" b="1" dirty="0">
                  <a:solidFill>
                    <a:srgbClr val="C92800"/>
                  </a:solidFill>
                  <a:latin typeface="Calibri"/>
                </a:rPr>
                <a:t> Life</a:t>
              </a:r>
            </a:p>
          </p:txBody>
        </p:sp>
        <p:sp>
          <p:nvSpPr>
            <p:cNvPr id="60" name="Freeform 3">
              <a:extLst>
                <a:ext uri="{FF2B5EF4-FFF2-40B4-BE49-F238E27FC236}">
                  <a16:creationId xmlns:a16="http://schemas.microsoft.com/office/drawing/2014/main" id="{F1BAEA9D-8943-9532-39DE-E082C95BD9C4}"/>
                </a:ext>
              </a:extLst>
            </p:cNvPr>
            <p:cNvSpPr/>
            <p:nvPr/>
          </p:nvSpPr>
          <p:spPr>
            <a:xfrm>
              <a:off x="1408035" y="383160"/>
              <a:ext cx="295567" cy="291255"/>
            </a:xfrm>
            <a:custGeom>
              <a:avLst/>
              <a:gdLst/>
              <a:ahLst/>
              <a:cxnLst/>
              <a:rect l="l" t="t" r="r" b="b"/>
              <a:pathLst>
                <a:path w="513610" h="513610">
                  <a:moveTo>
                    <a:pt x="0" y="0"/>
                  </a:moveTo>
                  <a:lnTo>
                    <a:pt x="513610" y="0"/>
                  </a:lnTo>
                  <a:lnTo>
                    <a:pt x="513610" y="513611"/>
                  </a:lnTo>
                  <a:lnTo>
                    <a:pt x="0" y="5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253C8264-6616-F82F-FDA9-3F0B0375CD34}"/>
              </a:ext>
            </a:extLst>
          </p:cNvPr>
          <p:cNvSpPr txBox="1"/>
          <p:nvPr/>
        </p:nvSpPr>
        <p:spPr>
          <a:xfrm>
            <a:off x="2487168" y="298935"/>
            <a:ext cx="8686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D1B2A"/>
                </a:solidFill>
              </a:rPr>
              <a:t>Recommendations, Next Steps &amp;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1057</Words>
  <Application>Microsoft Office PowerPoint</Application>
  <PresentationFormat>Custom</PresentationFormat>
  <Paragraphs>182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MANOJ GUTTIKONDA</cp:lastModifiedBy>
  <cp:revision>3</cp:revision>
  <dcterms:created xsi:type="dcterms:W3CDTF">2013-01-27T09:14:16Z</dcterms:created>
  <dcterms:modified xsi:type="dcterms:W3CDTF">2026-04-26T23:17:18Z</dcterms:modified>
  <cp:category/>
</cp:coreProperties>
</file>